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Introduction
Say only the headline first: 'Ten minutes scheduled. Thirty seconds left.' Pause. Then explain the GSB Gunn to Building 420 example. The thirty seconds are a modeled route-only margin at 3 mph, before building time. State that this is a possible pair, not an observed trip, and then reveal the research question in the red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Data Source
Give each source one sentence. ExploreCourses gives the schedule. Campus Map gives official locations. OpenStreetMap gives the route network. The survey gives lived experience. Emphasize the black line: schedule, route and experience are different evidence types, and the analysis does not merge them into unsupported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Data Analysis and 5Ws
Move through the five numbers in one breath, then stop at the unit of analysis. One possible pair is two physical meetings with exactly ten minutes between them. It is not a student's schedule. The 5Ws define the scope. Mention that unresolved rooms were excluded and the final route matrix had complete coverage. The same pair set was then examined through walking and bicycle sensitivity, component timing, subject geography and a high-enrollment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Finding
Start with 17.5%, then translate it to about one in six possible walking transitions. The median walk is 6.2 minutes and the 90th percentile is 12.1. Then compare the four scenarios: 82.5% fit with the full ten minutes, 69.0% after reserving two minutes for buildings, 97.3% with a 15-minute period, and 99.4% by bicycle after a two-minute handling allowance. These are sensitivity scenarios, not observed behavior. Stanford's published maximum bicycle speed in the central Pedestrian Zone is 10 mph; our 8 mph scenario still excludes reaching, parking and dismounting the bicycle.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Sourcing
The survey does not validate the model; it adds human stakes. Fourteen respondents reported being late and six reported a close call. Among the expanded responses, 11 named a concrete consequence. Travel mode matters to this story: 21 selected walking, 11 biking and five e-scooter, with multiple selections allowed. Read the quote aloud. Then state the limitation: this is a convenience sample, not a prevalence estimate. The next sourcing step is official response, field timing and deeper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Story
Read the chart as one visual. All four pairs have the same ten-minute schedule gap. Walking time ranges from 6.2 to 28.3 minutes. At 8 mph the bike scenarios are 2.9, 3.9, 6.9 and 10.8 minutes, so a bicycle moves the first three inside the limit but not the Red Barn example. Repeat both caveats: these are schedule examples, not student co-enrollment, and the bicycle estimate excludes reaching, parking or dismounting a bike.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Conclusion
Answer directly: the schedule usually works, but not equally for every travel mode. At 3 mph, 82.5% of possible walking pairs fit with the full ten minutes and 69.0% fit after reserving two minutes for buildings. At 8 mph, 99.4% of bicycle pairs fit after a two-minute handling allowance. A 15-minute period is the other useful counterfactual: 97.3% of walks fit, or 93.1% with building time. End with one takeaway for students and one reporting question for Stanford before making a policy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imranqsl212.github.io/ten-minute-stanford/methodology.html"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imranqsl212.github.io/ten-minute-stanford/methodology.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imranqsl212.github.io/ten-minute-stanford/methodology.html"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google.com/spreadsheets/d/1gF9X8H8e44hamMNEyIAbUJVcV6Bubre1K2IJJMwd5ZI/edit?gid=1824059912#gid=1824059912"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imranqsl212.github.io/ten-minute-stanford/"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imranqsl212.github.io/ten-minute-stanford/" TargetMode="External"/><Relationship Id="rId2" Type="http://schemas.openxmlformats.org/officeDocument/2006/relationships/hyperlink" Target="https://imranqsl212.github.io/ten-minute-stanford/methodology.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1E9"/>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8C1515"/>
          </a:solidFill>
          <a:ln w="12700">
            <a:solidFill>
              <a:srgbClr val="8C1515"/>
            </a:solidFill>
            <a:prstDash val="solid"/>
          </a:ln>
        </p:spPr>
      </p:sp>
      <p:sp>
        <p:nvSpPr>
          <p:cNvPr id="3" name="Text 1"/>
          <p:cNvSpPr/>
          <p:nvPr/>
        </p:nvSpPr>
        <p:spPr>
          <a:xfrm>
            <a:off x="713232" y="475488"/>
            <a:ext cx="3291840" cy="182880"/>
          </a:xfrm>
          <a:prstGeom prst="rect">
            <a:avLst/>
          </a:prstGeom>
          <a:noFill/>
          <a:ln/>
        </p:spPr>
        <p:txBody>
          <a:bodyPr wrap="square" lIns="0" tIns="0" rIns="0" bIns="0" rtlCol="0" anchor="ctr"/>
          <a:lstStyle/>
          <a:p>
            <a:pPr indent="0" marL="0">
              <a:buNone/>
            </a:pPr>
            <a:r>
              <a:rPr lang="en-US" sz="900" b="1" spc="150" kern="0" dirty="0">
                <a:solidFill>
                  <a:srgbClr val="8C1515"/>
                </a:solidFill>
                <a:latin typeface="Avenir Next" pitchFamily="34" charset="0"/>
                <a:ea typeface="Avenir Next" pitchFamily="34" charset="-122"/>
                <a:cs typeface="Avenir Next" pitchFamily="34" charset="-120"/>
              </a:rPr>
              <a:t>THE TEN-MINUTE TEST</a:t>
            </a:r>
            <a:endParaRPr lang="en-US" sz="900" dirty="0"/>
          </a:p>
        </p:txBody>
      </p:sp>
      <p:sp>
        <p:nvSpPr>
          <p:cNvPr id="4" name="Text 2"/>
          <p:cNvSpPr/>
          <p:nvPr/>
        </p:nvSpPr>
        <p:spPr>
          <a:xfrm>
            <a:off x="694944" y="1051560"/>
            <a:ext cx="6492240" cy="1188720"/>
          </a:xfrm>
          <a:prstGeom prst="rect">
            <a:avLst/>
          </a:prstGeom>
          <a:noFill/>
          <a:ln/>
        </p:spPr>
        <p:txBody>
          <a:bodyPr wrap="square" lIns="0" tIns="0" rIns="0" bIns="0" rtlCol="0" anchor="t">
            <a:normAutofit/>
          </a:bodyPr>
          <a:lstStyle/>
          <a:p>
            <a:pPr indent="0" marL="0">
              <a:buNone/>
            </a:pPr>
            <a:r>
              <a:rPr lang="en-US" sz="3900" b="1" dirty="0">
                <a:solidFill>
                  <a:srgbClr val="161514"/>
                </a:solidFill>
                <a:latin typeface="Georgia" pitchFamily="34" charset="0"/>
                <a:ea typeface="Georgia" pitchFamily="34" charset="-122"/>
                <a:cs typeface="Georgia" pitchFamily="34" charset="-120"/>
              </a:rPr>
              <a:t>Ten minutes scheduled.</a:t>
            </a:r>
            <a:endParaRPr lang="en-US" sz="3900" dirty="0"/>
          </a:p>
          <a:p>
            <a:pPr indent="0" marL="0">
              <a:buNone/>
            </a:pPr>
            <a:r>
              <a:rPr lang="en-US" sz="3900" b="1" dirty="0">
                <a:solidFill>
                  <a:srgbClr val="161514"/>
                </a:solidFill>
                <a:latin typeface="Georgia" pitchFamily="34" charset="0"/>
                <a:ea typeface="Georgia" pitchFamily="34" charset="-122"/>
                <a:cs typeface="Georgia" pitchFamily="34" charset="-120"/>
              </a:rPr>
              <a:t>Thirty seconds left.</a:t>
            </a:r>
            <a:endParaRPr lang="en-US" sz="3900" dirty="0"/>
          </a:p>
        </p:txBody>
      </p:sp>
      <p:sp>
        <p:nvSpPr>
          <p:cNvPr id="5" name="Text 3"/>
          <p:cNvSpPr/>
          <p:nvPr/>
        </p:nvSpPr>
        <p:spPr>
          <a:xfrm>
            <a:off x="731520" y="2514600"/>
            <a:ext cx="5961888" cy="512064"/>
          </a:xfrm>
          <a:prstGeom prst="rect">
            <a:avLst/>
          </a:prstGeom>
          <a:noFill/>
          <a:ln/>
        </p:spPr>
        <p:txBody>
          <a:bodyPr wrap="square" lIns="0" tIns="0" rIns="0" bIns="0" rtlCol="0" anchor="t">
            <a:normAutofit/>
          </a:bodyPr>
          <a:lstStyle/>
          <a:p>
            <a:pPr indent="0" marL="0">
              <a:buNone/>
            </a:pPr>
            <a:r>
              <a:rPr lang="en-US" sz="1450" dirty="0">
                <a:solidFill>
                  <a:srgbClr val="6B6761"/>
                </a:solidFill>
                <a:latin typeface="Avenir Next" pitchFamily="34" charset="0"/>
                <a:ea typeface="Avenir Next" pitchFamily="34" charset="-122"/>
                <a:cs typeface="Avenir Next" pitchFamily="34" charset="-120"/>
              </a:rPr>
              <a:t>STRAMGT 354 ends in GSB Gunn at 11:20. MATH 131P begins in Building 420 at 11:30.</a:t>
            </a:r>
            <a:endParaRPr lang="en-US" sz="1450" dirty="0"/>
          </a:p>
        </p:txBody>
      </p:sp>
      <p:sp>
        <p:nvSpPr>
          <p:cNvPr id="6" name="Text 4"/>
          <p:cNvSpPr/>
          <p:nvPr/>
        </p:nvSpPr>
        <p:spPr>
          <a:xfrm>
            <a:off x="731520" y="3145536"/>
            <a:ext cx="5806440" cy="274320"/>
          </a:xfrm>
          <a:prstGeom prst="rect">
            <a:avLst/>
          </a:prstGeom>
          <a:noFill/>
          <a:ln/>
        </p:spPr>
        <p:txBody>
          <a:bodyPr wrap="square" lIns="0" tIns="0" rIns="0" bIns="0" rtlCol="0" anchor="ctr">
            <a:normAutofit/>
          </a:bodyPr>
          <a:lstStyle/>
          <a:p>
            <a:pPr indent="0" marL="0">
              <a:buNone/>
            </a:pPr>
            <a:r>
              <a:rPr lang="en-US" sz="1300" b="1" dirty="0">
                <a:solidFill>
                  <a:srgbClr val="8C1515"/>
                </a:solidFill>
                <a:latin typeface="Avenir Next" pitchFamily="34" charset="0"/>
                <a:ea typeface="Avenir Next" pitchFamily="34" charset="-122"/>
                <a:cs typeface="Avenir Next" pitchFamily="34" charset="-120"/>
              </a:rPr>
              <a:t>The modeled walk is 9.5 minutes, before leaving or entering either building.</a:t>
            </a:r>
            <a:endParaRPr lang="en-US" sz="1300" dirty="0"/>
          </a:p>
        </p:txBody>
      </p:sp>
      <p:sp>
        <p:nvSpPr>
          <p:cNvPr id="7" name="Text 5"/>
          <p:cNvSpPr/>
          <p:nvPr/>
        </p:nvSpPr>
        <p:spPr>
          <a:xfrm>
            <a:off x="7516368" y="1170432"/>
            <a:ext cx="3566160" cy="749808"/>
          </a:xfrm>
          <a:prstGeom prst="rect">
            <a:avLst/>
          </a:prstGeom>
          <a:noFill/>
          <a:ln/>
        </p:spPr>
        <p:txBody>
          <a:bodyPr wrap="square" lIns="0" tIns="0" rIns="0" bIns="0" rtlCol="0" anchor="ctr"/>
          <a:lstStyle/>
          <a:p>
            <a:pPr algn="ctr" indent="0" marL="0">
              <a:buNone/>
            </a:pPr>
            <a:r>
              <a:rPr lang="en-US" sz="5300" b="1" dirty="0">
                <a:solidFill>
                  <a:srgbClr val="8C1515"/>
                </a:solidFill>
                <a:latin typeface="Georgia" pitchFamily="34" charset="0"/>
                <a:ea typeface="Georgia" pitchFamily="34" charset="-122"/>
                <a:cs typeface="Georgia" pitchFamily="34" charset="-120"/>
              </a:rPr>
              <a:t>00:30</a:t>
            </a:r>
            <a:endParaRPr lang="en-US" sz="5300" dirty="0"/>
          </a:p>
        </p:txBody>
      </p:sp>
      <p:sp>
        <p:nvSpPr>
          <p:cNvPr id="8" name="Text 6"/>
          <p:cNvSpPr/>
          <p:nvPr/>
        </p:nvSpPr>
        <p:spPr>
          <a:xfrm>
            <a:off x="7680960" y="2029968"/>
            <a:ext cx="3246120" cy="182880"/>
          </a:xfrm>
          <a:prstGeom prst="rect">
            <a:avLst/>
          </a:prstGeom>
          <a:noFill/>
          <a:ln/>
        </p:spPr>
        <p:txBody>
          <a:bodyPr wrap="square" lIns="0" tIns="0" rIns="0" bIns="0" rtlCol="0" anchor="ctr"/>
          <a:lstStyle/>
          <a:p>
            <a:pPr algn="ctr" indent="0" marL="0">
              <a:buNone/>
            </a:pPr>
            <a:r>
              <a:rPr lang="en-US" sz="820" b="1" spc="110" kern="0" dirty="0">
                <a:solidFill>
                  <a:srgbClr val="6B6761"/>
                </a:solidFill>
                <a:latin typeface="Avenir Next" pitchFamily="34" charset="0"/>
                <a:ea typeface="Avenir Next" pitchFamily="34" charset="-122"/>
                <a:cs typeface="Avenir Next" pitchFamily="34" charset="-120"/>
              </a:rPr>
              <a:t>MODELED ROUTE-ONLY MARGIN</a:t>
            </a:r>
            <a:endParaRPr lang="en-US" sz="820" dirty="0"/>
          </a:p>
        </p:txBody>
      </p:sp>
      <p:sp>
        <p:nvSpPr>
          <p:cNvPr id="9" name="Shape 7"/>
          <p:cNvSpPr/>
          <p:nvPr/>
        </p:nvSpPr>
        <p:spPr>
          <a:xfrm>
            <a:off x="7726680" y="2843784"/>
            <a:ext cx="164592" cy="164592"/>
          </a:xfrm>
          <a:prstGeom prst="ellipse">
            <a:avLst/>
          </a:prstGeom>
          <a:solidFill>
            <a:srgbClr val="087E8B"/>
          </a:solidFill>
          <a:ln w="12700">
            <a:solidFill>
              <a:srgbClr val="087E8B"/>
            </a:solidFill>
            <a:prstDash val="solid"/>
          </a:ln>
        </p:spPr>
      </p:sp>
      <p:sp>
        <p:nvSpPr>
          <p:cNvPr id="10" name="Shape 8"/>
          <p:cNvSpPr/>
          <p:nvPr/>
        </p:nvSpPr>
        <p:spPr>
          <a:xfrm>
            <a:off x="7891272" y="2926080"/>
            <a:ext cx="2706624" cy="0"/>
          </a:xfrm>
          <a:prstGeom prst="line">
            <a:avLst/>
          </a:prstGeom>
          <a:noFill/>
          <a:ln w="12700">
            <a:solidFill>
              <a:srgbClr val="161514"/>
            </a:solidFill>
            <a:prstDash val="solid"/>
          </a:ln>
        </p:spPr>
      </p:sp>
      <p:sp>
        <p:nvSpPr>
          <p:cNvPr id="11" name="Shape 9"/>
          <p:cNvSpPr/>
          <p:nvPr/>
        </p:nvSpPr>
        <p:spPr>
          <a:xfrm>
            <a:off x="10579608" y="2843784"/>
            <a:ext cx="164592" cy="164592"/>
          </a:xfrm>
          <a:prstGeom prst="ellipse">
            <a:avLst/>
          </a:prstGeom>
          <a:solidFill>
            <a:srgbClr val="8C1515"/>
          </a:solidFill>
          <a:ln w="12700">
            <a:solidFill>
              <a:srgbClr val="8C1515"/>
            </a:solidFill>
            <a:prstDash val="solid"/>
          </a:ln>
        </p:spPr>
      </p:sp>
      <p:sp>
        <p:nvSpPr>
          <p:cNvPr id="12" name="Text 10"/>
          <p:cNvSpPr/>
          <p:nvPr/>
        </p:nvSpPr>
        <p:spPr>
          <a:xfrm>
            <a:off x="7424928" y="3200400"/>
            <a:ext cx="1188720" cy="164592"/>
          </a:xfrm>
          <a:prstGeom prst="rect">
            <a:avLst/>
          </a:prstGeom>
          <a:noFill/>
          <a:ln/>
        </p:spPr>
        <p:txBody>
          <a:bodyPr wrap="square" lIns="0" tIns="0" rIns="0" bIns="0" rtlCol="0" anchor="ctr"/>
          <a:lstStyle/>
          <a:p>
            <a:pPr algn="ctr" indent="0" marL="0">
              <a:buNone/>
            </a:pPr>
            <a:r>
              <a:rPr lang="en-US" sz="830" b="1" dirty="0">
                <a:solidFill>
                  <a:srgbClr val="087E8B"/>
                </a:solidFill>
                <a:latin typeface="Avenir Next" pitchFamily="34" charset="0"/>
                <a:ea typeface="Avenir Next" pitchFamily="34" charset="-122"/>
                <a:cs typeface="Avenir Next" pitchFamily="34" charset="-120"/>
              </a:rPr>
              <a:t>GSB GUNN</a:t>
            </a:r>
            <a:endParaRPr lang="en-US" sz="830" dirty="0"/>
          </a:p>
        </p:txBody>
      </p:sp>
      <p:sp>
        <p:nvSpPr>
          <p:cNvPr id="13" name="Text 11"/>
          <p:cNvSpPr/>
          <p:nvPr/>
        </p:nvSpPr>
        <p:spPr>
          <a:xfrm>
            <a:off x="8668512" y="3200400"/>
            <a:ext cx="1225296" cy="164592"/>
          </a:xfrm>
          <a:prstGeom prst="rect">
            <a:avLst/>
          </a:prstGeom>
          <a:noFill/>
          <a:ln/>
        </p:spPr>
        <p:txBody>
          <a:bodyPr wrap="square" lIns="0" tIns="0" rIns="0" bIns="0" rtlCol="0" anchor="ctr"/>
          <a:lstStyle/>
          <a:p>
            <a:pPr algn="ctr" indent="0" marL="0">
              <a:buNone/>
            </a:pPr>
            <a:r>
              <a:rPr lang="en-US" sz="830" b="1" dirty="0">
                <a:solidFill>
                  <a:srgbClr val="6B6761"/>
                </a:solidFill>
                <a:latin typeface="Avenir Next" pitchFamily="34" charset="0"/>
                <a:ea typeface="Avenir Next" pitchFamily="34" charset="-122"/>
                <a:cs typeface="Avenir Next" pitchFamily="34" charset="-120"/>
              </a:rPr>
              <a:t>765 METERS</a:t>
            </a:r>
            <a:endParaRPr lang="en-US" sz="830" dirty="0"/>
          </a:p>
        </p:txBody>
      </p:sp>
      <p:sp>
        <p:nvSpPr>
          <p:cNvPr id="14" name="Text 12"/>
          <p:cNvSpPr/>
          <p:nvPr/>
        </p:nvSpPr>
        <p:spPr>
          <a:xfrm>
            <a:off x="9857232" y="3200400"/>
            <a:ext cx="1572768" cy="164592"/>
          </a:xfrm>
          <a:prstGeom prst="rect">
            <a:avLst/>
          </a:prstGeom>
          <a:noFill/>
          <a:ln/>
        </p:spPr>
        <p:txBody>
          <a:bodyPr wrap="square" lIns="0" tIns="0" rIns="0" bIns="0" rtlCol="0" anchor="ctr"/>
          <a:lstStyle/>
          <a:p>
            <a:pPr algn="ctr" indent="0" marL="0">
              <a:buNone/>
            </a:pPr>
            <a:r>
              <a:rPr lang="en-US" sz="830" b="1" dirty="0">
                <a:solidFill>
                  <a:srgbClr val="8C1515"/>
                </a:solidFill>
                <a:latin typeface="Avenir Next" pitchFamily="34" charset="0"/>
                <a:ea typeface="Avenir Next" pitchFamily="34" charset="-122"/>
                <a:cs typeface="Avenir Next" pitchFamily="34" charset="-120"/>
              </a:rPr>
              <a:t>BUILDING 420</a:t>
            </a:r>
            <a:endParaRPr lang="en-US" sz="830" dirty="0"/>
          </a:p>
        </p:txBody>
      </p:sp>
      <p:sp>
        <p:nvSpPr>
          <p:cNvPr id="15" name="Text 13"/>
          <p:cNvSpPr/>
          <p:nvPr/>
        </p:nvSpPr>
        <p:spPr>
          <a:xfrm>
            <a:off x="731520" y="5230368"/>
            <a:ext cx="4206240" cy="182880"/>
          </a:xfrm>
          <a:prstGeom prst="rect">
            <a:avLst/>
          </a:prstGeom>
          <a:noFill/>
          <a:ln/>
        </p:spPr>
        <p:txBody>
          <a:bodyPr wrap="square" lIns="0" tIns="0" rIns="0" bIns="0" rtlCol="0" anchor="ctr"/>
          <a:lstStyle/>
          <a:p>
            <a:pPr indent="0" marL="0">
              <a:buNone/>
            </a:pPr>
            <a:r>
              <a:rPr lang="en-US" sz="1050" b="1" dirty="0">
                <a:solidFill>
                  <a:srgbClr val="161514"/>
                </a:solidFill>
                <a:latin typeface="Avenir Next" pitchFamily="34" charset="0"/>
                <a:ea typeface="Avenir Next" pitchFamily="34" charset="-122"/>
                <a:cs typeface="Avenir Next" pitchFamily="34" charset="-120"/>
              </a:rPr>
              <a:t>Imran Zakirov and Alisher Sabitov</a:t>
            </a:r>
            <a:endParaRPr lang="en-US" sz="1050" dirty="0"/>
          </a:p>
        </p:txBody>
      </p:sp>
      <p:sp>
        <p:nvSpPr>
          <p:cNvPr id="16" name="Text 14"/>
          <p:cNvSpPr/>
          <p:nvPr/>
        </p:nvSpPr>
        <p:spPr>
          <a:xfrm>
            <a:off x="731520" y="5504688"/>
            <a:ext cx="4297680" cy="164592"/>
          </a:xfrm>
          <a:prstGeom prst="rect">
            <a:avLst/>
          </a:prstGeom>
          <a:noFill/>
          <a:ln/>
        </p:spPr>
        <p:txBody>
          <a:bodyPr wrap="square" lIns="0" tIns="0" rIns="0" bIns="0" rtlCol="0" anchor="ctr"/>
          <a:lstStyle/>
          <a:p>
            <a:pPr indent="0" marL="0">
              <a:buNone/>
            </a:pPr>
            <a:r>
              <a:rPr lang="en-US" sz="880" dirty="0">
                <a:solidFill>
                  <a:srgbClr val="6B6761"/>
                </a:solidFill>
                <a:latin typeface="Avenir Next" pitchFamily="34" charset="0"/>
                <a:ea typeface="Avenir Next" pitchFamily="34" charset="-122"/>
                <a:cs typeface="Avenir Next" pitchFamily="34" charset="-120"/>
              </a:rPr>
              <a:t>Stanford Daily Data Workshop final project</a:t>
            </a:r>
            <a:endParaRPr lang="en-US" sz="880" dirty="0"/>
          </a:p>
        </p:txBody>
      </p:sp>
      <p:sp>
        <p:nvSpPr>
          <p:cNvPr id="17" name="Shape 15"/>
          <p:cNvSpPr/>
          <p:nvPr/>
        </p:nvSpPr>
        <p:spPr>
          <a:xfrm>
            <a:off x="201168" y="5897880"/>
            <a:ext cx="11990527" cy="960120"/>
          </a:xfrm>
          <a:prstGeom prst="rect">
            <a:avLst/>
          </a:prstGeom>
          <a:solidFill>
            <a:srgbClr val="8C1515"/>
          </a:solidFill>
          <a:ln w="12700">
            <a:solidFill>
              <a:srgbClr val="8C1515"/>
            </a:solidFill>
            <a:prstDash val="solid"/>
          </a:ln>
        </p:spPr>
      </p:sp>
      <p:sp>
        <p:nvSpPr>
          <p:cNvPr id="18" name="Text 16"/>
          <p:cNvSpPr/>
          <p:nvPr/>
        </p:nvSpPr>
        <p:spPr>
          <a:xfrm>
            <a:off x="731520" y="6117336"/>
            <a:ext cx="10835640" cy="402336"/>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Georgia" pitchFamily="34" charset="0"/>
                <a:ea typeface="Georgia" pitchFamily="34" charset="-122"/>
                <a:cs typeface="Georgia" pitchFamily="34" charset="-120"/>
              </a:rPr>
              <a:t>Does Stanford's ten-minute passing period work across the published schedule?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58368" y="283464"/>
            <a:ext cx="4389120" cy="164592"/>
          </a:xfrm>
          <a:prstGeom prst="rect">
            <a:avLst/>
          </a:prstGeom>
          <a:noFill/>
          <a:ln/>
        </p:spPr>
        <p:txBody>
          <a:bodyPr wrap="square" lIns="0" tIns="0" rIns="0" bIns="0" rtlCol="0" anchor="ctr"/>
          <a:lstStyle/>
          <a:p>
            <a:pPr indent="0" marL="0">
              <a:buNone/>
            </a:pPr>
            <a:r>
              <a:rPr lang="en-US" sz="880" b="1" spc="140" kern="0" dirty="0">
                <a:solidFill>
                  <a:srgbClr val="8C1515"/>
                </a:solidFill>
                <a:latin typeface="Avenir Next" pitchFamily="34" charset="0"/>
                <a:ea typeface="Avenir Next" pitchFamily="34" charset="-122"/>
                <a:cs typeface="Avenir Next" pitchFamily="34" charset="-120"/>
              </a:rPr>
              <a:t>DATA SOURCE</a:t>
            </a:r>
            <a:endParaRPr lang="en-US" sz="880" dirty="0"/>
          </a:p>
        </p:txBody>
      </p:sp>
      <p:sp>
        <p:nvSpPr>
          <p:cNvPr id="3" name="Text 1"/>
          <p:cNvSpPr/>
          <p:nvPr/>
        </p:nvSpPr>
        <p:spPr>
          <a:xfrm>
            <a:off x="10927080" y="283464"/>
            <a:ext cx="603504" cy="164592"/>
          </a:xfrm>
          <a:prstGeom prst="rect">
            <a:avLst/>
          </a:prstGeom>
          <a:noFill/>
          <a:ln/>
        </p:spPr>
        <p:txBody>
          <a:bodyPr wrap="square" lIns="0" tIns="0" rIns="0" bIns="0" rtlCol="0" anchor="ctr"/>
          <a:lstStyle/>
          <a:p>
            <a:pPr algn="r" indent="0" marL="0">
              <a:buNone/>
            </a:pPr>
            <a:r>
              <a:rPr lang="en-US" sz="830" b="1" dirty="0">
                <a:solidFill>
                  <a:srgbClr val="6B6761"/>
                </a:solidFill>
                <a:latin typeface="Avenir Next" pitchFamily="34" charset="0"/>
                <a:ea typeface="Avenir Next" pitchFamily="34" charset="-122"/>
                <a:cs typeface="Avenir Next" pitchFamily="34" charset="-120"/>
              </a:rPr>
              <a:t>2 / 7</a:t>
            </a:r>
            <a:endParaRPr lang="en-US" sz="830" dirty="0"/>
          </a:p>
        </p:txBody>
      </p:sp>
      <p:sp>
        <p:nvSpPr>
          <p:cNvPr id="4" name="Shape 2"/>
          <p:cNvSpPr/>
          <p:nvPr/>
        </p:nvSpPr>
        <p:spPr>
          <a:xfrm>
            <a:off x="658368" y="603504"/>
            <a:ext cx="10872216" cy="0"/>
          </a:xfrm>
          <a:prstGeom prst="line">
            <a:avLst/>
          </a:prstGeom>
          <a:noFill/>
          <a:ln w="12700">
            <a:solidFill>
              <a:srgbClr val="D8D0C4"/>
            </a:solidFill>
            <a:prstDash val="solid"/>
          </a:ln>
        </p:spPr>
      </p:sp>
      <p:sp>
        <p:nvSpPr>
          <p:cNvPr id="5" name="Text 3"/>
          <p:cNvSpPr/>
          <p:nvPr/>
        </p:nvSpPr>
        <p:spPr>
          <a:xfrm>
            <a:off x="658368" y="786384"/>
            <a:ext cx="10872216" cy="548640"/>
          </a:xfrm>
          <a:prstGeom prst="rect">
            <a:avLst/>
          </a:prstGeom>
          <a:noFill/>
          <a:ln/>
        </p:spPr>
        <p:txBody>
          <a:bodyPr wrap="square" lIns="0" tIns="0" rIns="0" bIns="0" rtlCol="0" anchor="ctr">
            <a:normAutofit/>
          </a:bodyPr>
          <a:lstStyle/>
          <a:p>
            <a:pPr indent="0" marL="0">
              <a:buNone/>
            </a:pPr>
            <a:r>
              <a:rPr lang="en-US" sz="2900" b="1" dirty="0">
                <a:solidFill>
                  <a:srgbClr val="161514"/>
                </a:solidFill>
                <a:latin typeface="Georgia" pitchFamily="34" charset="0"/>
                <a:ea typeface="Georgia" pitchFamily="34" charset="-122"/>
                <a:cs typeface="Georgia" pitchFamily="34" charset="-120"/>
              </a:rPr>
              <a:t>Four sources. One bounded role each.</a:t>
            </a:r>
            <a:endParaRPr lang="en-US" sz="2900" dirty="0"/>
          </a:p>
        </p:txBody>
      </p:sp>
      <p:sp>
        <p:nvSpPr>
          <p:cNvPr id="6" name="Text 4"/>
          <p:cNvSpPr/>
          <p:nvPr/>
        </p:nvSpPr>
        <p:spPr>
          <a:xfrm>
            <a:off x="676656" y="1344168"/>
            <a:ext cx="10744200" cy="256032"/>
          </a:xfrm>
          <a:prstGeom prst="rect">
            <a:avLst/>
          </a:prstGeom>
          <a:noFill/>
          <a:ln/>
        </p:spPr>
        <p:txBody>
          <a:bodyPr wrap="square" lIns="0" tIns="0" rIns="0" bIns="0" rtlCol="0" anchor="ctr">
            <a:normAutofit/>
          </a:bodyPr>
          <a:lstStyle/>
          <a:p>
            <a:pPr indent="0" marL="0">
              <a:buNone/>
            </a:pPr>
            <a:r>
              <a:rPr lang="en-US" sz="1150" dirty="0">
                <a:solidFill>
                  <a:srgbClr val="6B6761"/>
                </a:solidFill>
                <a:latin typeface="Avenir Next" pitchFamily="34" charset="0"/>
                <a:ea typeface="Avenir Next" pitchFamily="34" charset="-122"/>
                <a:cs typeface="Avenir Next" pitchFamily="34" charset="-120"/>
              </a:rPr>
              <a:t>No single source can answer the schedule, geography, route and experience questions alone.</a:t>
            </a:r>
            <a:endParaRPr lang="en-US" sz="1150" dirty="0"/>
          </a:p>
        </p:txBody>
      </p:sp>
      <p:sp>
        <p:nvSpPr>
          <p:cNvPr id="7" name="Shape 5"/>
          <p:cNvSpPr/>
          <p:nvPr/>
        </p:nvSpPr>
        <p:spPr>
          <a:xfrm>
            <a:off x="694944" y="1865376"/>
            <a:ext cx="4983480" cy="0"/>
          </a:xfrm>
          <a:prstGeom prst="line">
            <a:avLst/>
          </a:prstGeom>
          <a:noFill/>
          <a:ln w="12700">
            <a:solidFill>
              <a:srgbClr val="8C1515"/>
            </a:solidFill>
            <a:prstDash val="solid"/>
          </a:ln>
        </p:spPr>
      </p:sp>
      <p:sp>
        <p:nvSpPr>
          <p:cNvPr id="8" name="Text 6"/>
          <p:cNvSpPr/>
          <p:nvPr/>
        </p:nvSpPr>
        <p:spPr>
          <a:xfrm>
            <a:off x="694944" y="2066544"/>
            <a:ext cx="777240" cy="502920"/>
          </a:xfrm>
          <a:prstGeom prst="rect">
            <a:avLst/>
          </a:prstGeom>
          <a:noFill/>
          <a:ln/>
        </p:spPr>
        <p:txBody>
          <a:bodyPr wrap="square" lIns="0" tIns="0" rIns="0" bIns="0" rtlCol="0" anchor="ctr"/>
          <a:lstStyle/>
          <a:p>
            <a:pPr indent="0" marL="0">
              <a:buNone/>
            </a:pPr>
            <a:r>
              <a:rPr lang="en-US" sz="2900" b="1" dirty="0">
                <a:solidFill>
                  <a:srgbClr val="D8D0C4"/>
                </a:solidFill>
                <a:latin typeface="Georgia" pitchFamily="34" charset="0"/>
                <a:ea typeface="Georgia" pitchFamily="34" charset="-122"/>
                <a:cs typeface="Georgia" pitchFamily="34" charset="-120"/>
              </a:rPr>
              <a:t>01</a:t>
            </a:r>
            <a:endParaRPr lang="en-US" sz="2900" dirty="0"/>
          </a:p>
        </p:txBody>
      </p:sp>
      <p:sp>
        <p:nvSpPr>
          <p:cNvPr id="9" name="Text 7"/>
          <p:cNvSpPr/>
          <p:nvPr/>
        </p:nvSpPr>
        <p:spPr>
          <a:xfrm>
            <a:off x="1609344" y="2039112"/>
            <a:ext cx="4005072" cy="310896"/>
          </a:xfrm>
          <a:prstGeom prst="rect">
            <a:avLst/>
          </a:prstGeom>
          <a:noFill/>
          <a:ln/>
        </p:spPr>
        <p:txBody>
          <a:bodyPr wrap="square" lIns="0" tIns="0" rIns="0" bIns="0" rtlCol="0" anchor="ctr"/>
          <a:lstStyle/>
          <a:p>
            <a:pPr indent="0" marL="0">
              <a:buNone/>
            </a:pPr>
            <a:r>
              <a:rPr lang="en-US" sz="1700" b="1" dirty="0">
                <a:solidFill>
                  <a:srgbClr val="161514"/>
                </a:solidFill>
                <a:latin typeface="Georgia" pitchFamily="34" charset="0"/>
                <a:ea typeface="Georgia" pitchFamily="34" charset="-122"/>
                <a:cs typeface="Georgia" pitchFamily="34" charset="-120"/>
              </a:rPr>
              <a:t>ExploreCourses XML</a:t>
            </a:r>
            <a:endParaRPr lang="en-US" sz="1700" dirty="0"/>
          </a:p>
        </p:txBody>
      </p:sp>
      <p:sp>
        <p:nvSpPr>
          <p:cNvPr id="10" name="Text 8"/>
          <p:cNvSpPr/>
          <p:nvPr/>
        </p:nvSpPr>
        <p:spPr>
          <a:xfrm>
            <a:off x="1609344" y="2441448"/>
            <a:ext cx="3913632" cy="438912"/>
          </a:xfrm>
          <a:prstGeom prst="rect">
            <a:avLst/>
          </a:prstGeom>
          <a:noFill/>
          <a:ln/>
        </p:spPr>
        <p:txBody>
          <a:bodyPr wrap="square" lIns="0" tIns="0" rIns="0" bIns="0" rtlCol="0" anchor="t">
            <a:normAutofit/>
          </a:bodyPr>
          <a:lstStyle/>
          <a:p>
            <a:pPr indent="0" marL="0">
              <a:buNone/>
            </a:pPr>
            <a:r>
              <a:rPr lang="en-US" sz="1060" dirty="0">
                <a:solidFill>
                  <a:srgbClr val="6B6761"/>
                </a:solidFill>
                <a:latin typeface="Avenir Next" pitchFamily="34" charset="0"/>
                <a:ea typeface="Avenir Next" pitchFamily="34" charset="-122"/>
                <a:cs typeface="Avenir Next" pitchFamily="34" charset="-120"/>
              </a:rPr>
              <a:t>Published Winter 2026 dates, weekdays, times, room labels, components, enrollment and capacity.</a:t>
            </a:r>
            <a:endParaRPr lang="en-US" sz="1060" dirty="0"/>
          </a:p>
        </p:txBody>
      </p:sp>
      <p:sp>
        <p:nvSpPr>
          <p:cNvPr id="11" name="Text 9"/>
          <p:cNvSpPr/>
          <p:nvPr/>
        </p:nvSpPr>
        <p:spPr>
          <a:xfrm>
            <a:off x="1609344" y="2980944"/>
            <a:ext cx="3291840" cy="146304"/>
          </a:xfrm>
          <a:prstGeom prst="rect">
            <a:avLst/>
          </a:prstGeom>
          <a:noFill/>
          <a:ln/>
        </p:spPr>
        <p:txBody>
          <a:bodyPr wrap="square" lIns="0" tIns="0" rIns="0" bIns="0" rtlCol="0" anchor="ctr"/>
          <a:lstStyle/>
          <a:p>
            <a:pPr indent="0" marL="0">
              <a:buNone/>
            </a:pPr>
            <a:r>
              <a:rPr lang="en-US" sz="750" b="1" spc="90" kern="0" dirty="0">
                <a:solidFill>
                  <a:srgbClr val="8C1515"/>
                </a:solidFill>
                <a:latin typeface="Avenir Next" pitchFamily="34" charset="0"/>
                <a:ea typeface="Avenir Next" pitchFamily="34" charset="-122"/>
                <a:cs typeface="Avenir Next" pitchFamily="34" charset="-120"/>
              </a:rPr>
              <a:t>OFFICIAL STANFORD</a:t>
            </a:r>
            <a:endParaRPr lang="en-US" sz="750" dirty="0"/>
          </a:p>
        </p:txBody>
      </p:sp>
      <p:sp>
        <p:nvSpPr>
          <p:cNvPr id="12" name="Shape 10"/>
          <p:cNvSpPr/>
          <p:nvPr/>
        </p:nvSpPr>
        <p:spPr>
          <a:xfrm>
            <a:off x="6336792" y="1865376"/>
            <a:ext cx="4983480" cy="0"/>
          </a:xfrm>
          <a:prstGeom prst="line">
            <a:avLst/>
          </a:prstGeom>
          <a:noFill/>
          <a:ln w="12700">
            <a:solidFill>
              <a:srgbClr val="8C1515"/>
            </a:solidFill>
            <a:prstDash val="solid"/>
          </a:ln>
        </p:spPr>
      </p:sp>
      <p:sp>
        <p:nvSpPr>
          <p:cNvPr id="13" name="Text 11"/>
          <p:cNvSpPr/>
          <p:nvPr/>
        </p:nvSpPr>
        <p:spPr>
          <a:xfrm>
            <a:off x="6336792" y="2066544"/>
            <a:ext cx="777240" cy="502920"/>
          </a:xfrm>
          <a:prstGeom prst="rect">
            <a:avLst/>
          </a:prstGeom>
          <a:noFill/>
          <a:ln/>
        </p:spPr>
        <p:txBody>
          <a:bodyPr wrap="square" lIns="0" tIns="0" rIns="0" bIns="0" rtlCol="0" anchor="ctr"/>
          <a:lstStyle/>
          <a:p>
            <a:pPr indent="0" marL="0">
              <a:buNone/>
            </a:pPr>
            <a:r>
              <a:rPr lang="en-US" sz="2900" b="1" dirty="0">
                <a:solidFill>
                  <a:srgbClr val="D8D0C4"/>
                </a:solidFill>
                <a:latin typeface="Georgia" pitchFamily="34" charset="0"/>
                <a:ea typeface="Georgia" pitchFamily="34" charset="-122"/>
                <a:cs typeface="Georgia" pitchFamily="34" charset="-120"/>
              </a:rPr>
              <a:t>02</a:t>
            </a:r>
            <a:endParaRPr lang="en-US" sz="2900" dirty="0"/>
          </a:p>
        </p:txBody>
      </p:sp>
      <p:sp>
        <p:nvSpPr>
          <p:cNvPr id="14" name="Text 12"/>
          <p:cNvSpPr/>
          <p:nvPr/>
        </p:nvSpPr>
        <p:spPr>
          <a:xfrm>
            <a:off x="7251192" y="2039112"/>
            <a:ext cx="4005072" cy="310896"/>
          </a:xfrm>
          <a:prstGeom prst="rect">
            <a:avLst/>
          </a:prstGeom>
          <a:noFill/>
          <a:ln/>
        </p:spPr>
        <p:txBody>
          <a:bodyPr wrap="square" lIns="0" tIns="0" rIns="0" bIns="0" rtlCol="0" anchor="ctr"/>
          <a:lstStyle/>
          <a:p>
            <a:pPr indent="0" marL="0">
              <a:buNone/>
            </a:pPr>
            <a:r>
              <a:rPr lang="en-US" sz="1700" b="1" dirty="0">
                <a:solidFill>
                  <a:srgbClr val="161514"/>
                </a:solidFill>
                <a:latin typeface="Georgia" pitchFamily="34" charset="0"/>
                <a:ea typeface="Georgia" pitchFamily="34" charset="-122"/>
                <a:cs typeface="Georgia" pitchFamily="34" charset="-120"/>
              </a:rPr>
              <a:t>Stanford Campus Map</a:t>
            </a:r>
            <a:endParaRPr lang="en-US" sz="1700" dirty="0"/>
          </a:p>
        </p:txBody>
      </p:sp>
      <p:sp>
        <p:nvSpPr>
          <p:cNvPr id="15" name="Text 13"/>
          <p:cNvSpPr/>
          <p:nvPr/>
        </p:nvSpPr>
        <p:spPr>
          <a:xfrm>
            <a:off x="7251192" y="2441448"/>
            <a:ext cx="3913632" cy="438912"/>
          </a:xfrm>
          <a:prstGeom prst="rect">
            <a:avLst/>
          </a:prstGeom>
          <a:noFill/>
          <a:ln/>
        </p:spPr>
        <p:txBody>
          <a:bodyPr wrap="square" lIns="0" tIns="0" rIns="0" bIns="0" rtlCol="0" anchor="t">
            <a:normAutofit/>
          </a:bodyPr>
          <a:lstStyle/>
          <a:p>
            <a:pPr indent="0" marL="0">
              <a:buNone/>
            </a:pPr>
            <a:r>
              <a:rPr lang="en-US" sz="1060" dirty="0">
                <a:solidFill>
                  <a:srgbClr val="6B6761"/>
                </a:solidFill>
                <a:latin typeface="Avenir Next" pitchFamily="34" charset="0"/>
                <a:ea typeface="Avenir Next" pitchFamily="34" charset="-122"/>
                <a:cs typeface="Avenir Next" pitchFamily="34" charset="-120"/>
              </a:rPr>
              <a:t>Official facility IDs, building labels and coordinates used to resolve schedule rooms.</a:t>
            </a:r>
            <a:endParaRPr lang="en-US" sz="1060" dirty="0"/>
          </a:p>
        </p:txBody>
      </p:sp>
      <p:sp>
        <p:nvSpPr>
          <p:cNvPr id="16" name="Text 14"/>
          <p:cNvSpPr/>
          <p:nvPr/>
        </p:nvSpPr>
        <p:spPr>
          <a:xfrm>
            <a:off x="7251192" y="2980944"/>
            <a:ext cx="3291840" cy="146304"/>
          </a:xfrm>
          <a:prstGeom prst="rect">
            <a:avLst/>
          </a:prstGeom>
          <a:noFill/>
          <a:ln/>
        </p:spPr>
        <p:txBody>
          <a:bodyPr wrap="square" lIns="0" tIns="0" rIns="0" bIns="0" rtlCol="0" anchor="ctr"/>
          <a:lstStyle/>
          <a:p>
            <a:pPr indent="0" marL="0">
              <a:buNone/>
            </a:pPr>
            <a:r>
              <a:rPr lang="en-US" sz="750" b="1" spc="90" kern="0" dirty="0">
                <a:solidFill>
                  <a:srgbClr val="8C1515"/>
                </a:solidFill>
                <a:latin typeface="Avenir Next" pitchFamily="34" charset="0"/>
                <a:ea typeface="Avenir Next" pitchFamily="34" charset="-122"/>
                <a:cs typeface="Avenir Next" pitchFamily="34" charset="-120"/>
              </a:rPr>
              <a:t>OFFICIAL STANFORD</a:t>
            </a:r>
            <a:endParaRPr lang="en-US" sz="750" dirty="0"/>
          </a:p>
        </p:txBody>
      </p:sp>
      <p:sp>
        <p:nvSpPr>
          <p:cNvPr id="17" name="Shape 15"/>
          <p:cNvSpPr/>
          <p:nvPr/>
        </p:nvSpPr>
        <p:spPr>
          <a:xfrm>
            <a:off x="694944" y="3858768"/>
            <a:ext cx="4983480" cy="0"/>
          </a:xfrm>
          <a:prstGeom prst="line">
            <a:avLst/>
          </a:prstGeom>
          <a:noFill/>
          <a:ln w="12700">
            <a:solidFill>
              <a:srgbClr val="087E8B"/>
            </a:solidFill>
            <a:prstDash val="solid"/>
          </a:ln>
        </p:spPr>
      </p:sp>
      <p:sp>
        <p:nvSpPr>
          <p:cNvPr id="18" name="Text 16"/>
          <p:cNvSpPr/>
          <p:nvPr/>
        </p:nvSpPr>
        <p:spPr>
          <a:xfrm>
            <a:off x="694944" y="4059936"/>
            <a:ext cx="777240" cy="502920"/>
          </a:xfrm>
          <a:prstGeom prst="rect">
            <a:avLst/>
          </a:prstGeom>
          <a:noFill/>
          <a:ln/>
        </p:spPr>
        <p:txBody>
          <a:bodyPr wrap="square" lIns="0" tIns="0" rIns="0" bIns="0" rtlCol="0" anchor="ctr"/>
          <a:lstStyle/>
          <a:p>
            <a:pPr indent="0" marL="0">
              <a:buNone/>
            </a:pPr>
            <a:r>
              <a:rPr lang="en-US" sz="2900" b="1" dirty="0">
                <a:solidFill>
                  <a:srgbClr val="D8D0C4"/>
                </a:solidFill>
                <a:latin typeface="Georgia" pitchFamily="34" charset="0"/>
                <a:ea typeface="Georgia" pitchFamily="34" charset="-122"/>
                <a:cs typeface="Georgia" pitchFamily="34" charset="-120"/>
              </a:rPr>
              <a:t>03</a:t>
            </a:r>
            <a:endParaRPr lang="en-US" sz="2900" dirty="0"/>
          </a:p>
        </p:txBody>
      </p:sp>
      <p:sp>
        <p:nvSpPr>
          <p:cNvPr id="19" name="Text 17"/>
          <p:cNvSpPr/>
          <p:nvPr/>
        </p:nvSpPr>
        <p:spPr>
          <a:xfrm>
            <a:off x="1609344" y="4032504"/>
            <a:ext cx="4005072" cy="310896"/>
          </a:xfrm>
          <a:prstGeom prst="rect">
            <a:avLst/>
          </a:prstGeom>
          <a:noFill/>
          <a:ln/>
        </p:spPr>
        <p:txBody>
          <a:bodyPr wrap="square" lIns="0" tIns="0" rIns="0" bIns="0" rtlCol="0" anchor="ctr"/>
          <a:lstStyle/>
          <a:p>
            <a:pPr indent="0" marL="0">
              <a:buNone/>
            </a:pPr>
            <a:r>
              <a:rPr lang="en-US" sz="1700" b="1" dirty="0">
                <a:solidFill>
                  <a:srgbClr val="161514"/>
                </a:solidFill>
                <a:latin typeface="Georgia" pitchFamily="34" charset="0"/>
                <a:ea typeface="Georgia" pitchFamily="34" charset="-122"/>
                <a:cs typeface="Georgia" pitchFamily="34" charset="-120"/>
              </a:rPr>
              <a:t>OpenStreetMap</a:t>
            </a:r>
            <a:endParaRPr lang="en-US" sz="1700" dirty="0"/>
          </a:p>
        </p:txBody>
      </p:sp>
      <p:sp>
        <p:nvSpPr>
          <p:cNvPr id="20" name="Text 18"/>
          <p:cNvSpPr/>
          <p:nvPr/>
        </p:nvSpPr>
        <p:spPr>
          <a:xfrm>
            <a:off x="1609344" y="4434840"/>
            <a:ext cx="3913632" cy="438912"/>
          </a:xfrm>
          <a:prstGeom prst="rect">
            <a:avLst/>
          </a:prstGeom>
          <a:noFill/>
          <a:ln/>
        </p:spPr>
        <p:txBody>
          <a:bodyPr wrap="square" lIns="0" tIns="0" rIns="0" bIns="0" rtlCol="0" anchor="t">
            <a:normAutofit/>
          </a:bodyPr>
          <a:lstStyle/>
          <a:p>
            <a:pPr indent="0" marL="0">
              <a:buNone/>
            </a:pPr>
            <a:r>
              <a:rPr lang="en-US" sz="1060" dirty="0">
                <a:solidFill>
                  <a:srgbClr val="6B6761"/>
                </a:solidFill>
                <a:latin typeface="Avenir Next" pitchFamily="34" charset="0"/>
                <a:ea typeface="Avenir Next" pitchFamily="34" charset="-122"/>
                <a:cs typeface="Avenir Next" pitchFamily="34" charset="-120"/>
              </a:rPr>
              <a:t>Saved walking and bicycle network used for shortest-path estimates.</a:t>
            </a:r>
            <a:endParaRPr lang="en-US" sz="1060" dirty="0"/>
          </a:p>
        </p:txBody>
      </p:sp>
      <p:sp>
        <p:nvSpPr>
          <p:cNvPr id="21" name="Text 19"/>
          <p:cNvSpPr/>
          <p:nvPr/>
        </p:nvSpPr>
        <p:spPr>
          <a:xfrm>
            <a:off x="1609344" y="4974336"/>
            <a:ext cx="3291840" cy="146304"/>
          </a:xfrm>
          <a:prstGeom prst="rect">
            <a:avLst/>
          </a:prstGeom>
          <a:noFill/>
          <a:ln/>
        </p:spPr>
        <p:txBody>
          <a:bodyPr wrap="square" lIns="0" tIns="0" rIns="0" bIns="0" rtlCol="0" anchor="ctr"/>
          <a:lstStyle/>
          <a:p>
            <a:pPr indent="0" marL="0">
              <a:buNone/>
            </a:pPr>
            <a:r>
              <a:rPr lang="en-US" sz="750" b="1" spc="90" kern="0" dirty="0">
                <a:solidFill>
                  <a:srgbClr val="087E8B"/>
                </a:solidFill>
                <a:latin typeface="Avenir Next" pitchFamily="34" charset="0"/>
                <a:ea typeface="Avenir Next" pitchFamily="34" charset="-122"/>
                <a:cs typeface="Avenir Next" pitchFamily="34" charset="-120"/>
              </a:rPr>
              <a:t>EXTERNAL OPEN DATA</a:t>
            </a:r>
            <a:endParaRPr lang="en-US" sz="750" dirty="0"/>
          </a:p>
        </p:txBody>
      </p:sp>
      <p:sp>
        <p:nvSpPr>
          <p:cNvPr id="22" name="Shape 20"/>
          <p:cNvSpPr/>
          <p:nvPr/>
        </p:nvSpPr>
        <p:spPr>
          <a:xfrm>
            <a:off x="6336792" y="3858768"/>
            <a:ext cx="4983480" cy="0"/>
          </a:xfrm>
          <a:prstGeom prst="line">
            <a:avLst/>
          </a:prstGeom>
          <a:noFill/>
          <a:ln w="12700">
            <a:solidFill>
              <a:srgbClr val="C58D18"/>
            </a:solidFill>
            <a:prstDash val="solid"/>
          </a:ln>
        </p:spPr>
      </p:sp>
      <p:sp>
        <p:nvSpPr>
          <p:cNvPr id="23" name="Text 21"/>
          <p:cNvSpPr/>
          <p:nvPr/>
        </p:nvSpPr>
        <p:spPr>
          <a:xfrm>
            <a:off x="6336792" y="4059936"/>
            <a:ext cx="777240" cy="502920"/>
          </a:xfrm>
          <a:prstGeom prst="rect">
            <a:avLst/>
          </a:prstGeom>
          <a:noFill/>
          <a:ln/>
        </p:spPr>
        <p:txBody>
          <a:bodyPr wrap="square" lIns="0" tIns="0" rIns="0" bIns="0" rtlCol="0" anchor="ctr"/>
          <a:lstStyle/>
          <a:p>
            <a:pPr indent="0" marL="0">
              <a:buNone/>
            </a:pPr>
            <a:r>
              <a:rPr lang="en-US" sz="2900" b="1" dirty="0">
                <a:solidFill>
                  <a:srgbClr val="D8D0C4"/>
                </a:solidFill>
                <a:latin typeface="Georgia" pitchFamily="34" charset="0"/>
                <a:ea typeface="Georgia" pitchFamily="34" charset="-122"/>
                <a:cs typeface="Georgia" pitchFamily="34" charset="-120"/>
              </a:rPr>
              <a:t>04</a:t>
            </a:r>
            <a:endParaRPr lang="en-US" sz="2900" dirty="0"/>
          </a:p>
        </p:txBody>
      </p:sp>
      <p:sp>
        <p:nvSpPr>
          <p:cNvPr id="24" name="Text 22"/>
          <p:cNvSpPr/>
          <p:nvPr/>
        </p:nvSpPr>
        <p:spPr>
          <a:xfrm>
            <a:off x="7251192" y="4032504"/>
            <a:ext cx="4005072" cy="310896"/>
          </a:xfrm>
          <a:prstGeom prst="rect">
            <a:avLst/>
          </a:prstGeom>
          <a:noFill/>
          <a:ln/>
        </p:spPr>
        <p:txBody>
          <a:bodyPr wrap="square" lIns="0" tIns="0" rIns="0" bIns="0" rtlCol="0" anchor="ctr"/>
          <a:lstStyle/>
          <a:p>
            <a:pPr indent="0" marL="0">
              <a:buNone/>
            </a:pPr>
            <a:r>
              <a:rPr lang="en-US" sz="1700" b="1" dirty="0">
                <a:solidFill>
                  <a:srgbClr val="161514"/>
                </a:solidFill>
                <a:latin typeface="Georgia" pitchFamily="34" charset="0"/>
                <a:ea typeface="Georgia" pitchFamily="34" charset="-122"/>
                <a:cs typeface="Georgia" pitchFamily="34" charset="-120"/>
              </a:rPr>
              <a:t>Student survey</a:t>
            </a:r>
            <a:endParaRPr lang="en-US" sz="1700" dirty="0"/>
          </a:p>
        </p:txBody>
      </p:sp>
      <p:sp>
        <p:nvSpPr>
          <p:cNvPr id="25" name="Text 23"/>
          <p:cNvSpPr/>
          <p:nvPr/>
        </p:nvSpPr>
        <p:spPr>
          <a:xfrm>
            <a:off x="7251192" y="4434840"/>
            <a:ext cx="3913632" cy="438912"/>
          </a:xfrm>
          <a:prstGeom prst="rect">
            <a:avLst/>
          </a:prstGeom>
          <a:noFill/>
          <a:ln/>
        </p:spPr>
        <p:txBody>
          <a:bodyPr wrap="square" lIns="0" tIns="0" rIns="0" bIns="0" rtlCol="0" anchor="t">
            <a:normAutofit/>
          </a:bodyPr>
          <a:lstStyle/>
          <a:p>
            <a:pPr indent="0" marL="0">
              <a:buNone/>
            </a:pPr>
            <a:r>
              <a:rPr lang="en-US" sz="1060" dirty="0">
                <a:solidFill>
                  <a:srgbClr val="6B6761"/>
                </a:solidFill>
                <a:latin typeface="Avenir Next" pitchFamily="34" charset="0"/>
                <a:ea typeface="Avenir Next" pitchFamily="34" charset="-122"/>
                <a:cs typeface="Avenir Next" pitchFamily="34" charset="-120"/>
              </a:rPr>
              <a:t>Twenty-seven responses about late arrivals, close calls and consequences.</a:t>
            </a:r>
            <a:endParaRPr lang="en-US" sz="1060" dirty="0"/>
          </a:p>
        </p:txBody>
      </p:sp>
      <p:sp>
        <p:nvSpPr>
          <p:cNvPr id="26" name="Text 24"/>
          <p:cNvSpPr/>
          <p:nvPr/>
        </p:nvSpPr>
        <p:spPr>
          <a:xfrm>
            <a:off x="7251192" y="4974336"/>
            <a:ext cx="3291840" cy="146304"/>
          </a:xfrm>
          <a:prstGeom prst="rect">
            <a:avLst/>
          </a:prstGeom>
          <a:noFill/>
          <a:ln/>
        </p:spPr>
        <p:txBody>
          <a:bodyPr wrap="square" lIns="0" tIns="0" rIns="0" bIns="0" rtlCol="0" anchor="ctr"/>
          <a:lstStyle/>
          <a:p>
            <a:pPr indent="0" marL="0">
              <a:buNone/>
            </a:pPr>
            <a:r>
              <a:rPr lang="en-US" sz="750" b="1" spc="90" kern="0" dirty="0">
                <a:solidFill>
                  <a:srgbClr val="C58D18"/>
                </a:solidFill>
                <a:latin typeface="Avenir Next" pitchFamily="34" charset="0"/>
                <a:ea typeface="Avenir Next" pitchFamily="34" charset="-122"/>
                <a:cs typeface="Avenir Next" pitchFamily="34" charset="-120"/>
              </a:rPr>
              <a:t>AUTHOR REPORTING</a:t>
            </a:r>
            <a:endParaRPr lang="en-US" sz="750" dirty="0"/>
          </a:p>
        </p:txBody>
      </p:sp>
      <p:sp>
        <p:nvSpPr>
          <p:cNvPr id="27" name="Shape 25"/>
          <p:cNvSpPr/>
          <p:nvPr/>
        </p:nvSpPr>
        <p:spPr>
          <a:xfrm>
            <a:off x="694944" y="5824728"/>
            <a:ext cx="10771632" cy="438912"/>
          </a:xfrm>
          <a:prstGeom prst="rect">
            <a:avLst/>
          </a:prstGeom>
          <a:solidFill>
            <a:srgbClr val="161514"/>
          </a:solidFill>
          <a:ln w="12700">
            <a:solidFill>
              <a:srgbClr val="161514"/>
            </a:solidFill>
            <a:prstDash val="solid"/>
          </a:ln>
        </p:spPr>
      </p:sp>
      <p:sp>
        <p:nvSpPr>
          <p:cNvPr id="28" name="Text 26"/>
          <p:cNvSpPr/>
          <p:nvPr/>
        </p:nvSpPr>
        <p:spPr>
          <a:xfrm>
            <a:off x="941832" y="5943600"/>
            <a:ext cx="10241280" cy="164592"/>
          </a:xfrm>
          <a:prstGeom prst="rect">
            <a:avLst/>
          </a:prstGeom>
          <a:noFill/>
          <a:ln/>
        </p:spPr>
        <p:txBody>
          <a:bodyPr wrap="square" lIns="0" tIns="0" rIns="0" bIns="0" rtlCol="0" anchor="ctr">
            <a:normAutofit/>
          </a:bodyPr>
          <a:lstStyle/>
          <a:p>
            <a:pPr algn="ctr" indent="0" marL="0">
              <a:buNone/>
            </a:pPr>
            <a:r>
              <a:rPr lang="en-US" sz="950" b="1" dirty="0">
                <a:solidFill>
                  <a:srgbClr val="FFFFFF"/>
                </a:solidFill>
                <a:latin typeface="Avenir Next" pitchFamily="34" charset="0"/>
                <a:ea typeface="Avenir Next" pitchFamily="34" charset="-122"/>
                <a:cs typeface="Avenir Next" pitchFamily="34" charset="-120"/>
              </a:rPr>
              <a:t>Schedule != route != experience. Keeping those evidence types separate prevents overclaiming.</a:t>
            </a:r>
            <a:endParaRPr lang="en-US" sz="950" dirty="0"/>
          </a:p>
        </p:txBody>
      </p:sp>
      <p:sp>
        <p:nvSpPr>
          <p:cNvPr id="29" name="Text 27">
            <a:hlinkClick r:id="rId1" tooltip=""/>
          </p:cNvPr>
          <p:cNvSpPr/>
          <p:nvPr/>
        </p:nvSpPr>
        <p:spPr>
          <a:xfrm>
            <a:off x="658368" y="6519672"/>
            <a:ext cx="10287000" cy="137160"/>
          </a:xfrm>
          <a:prstGeom prst="rect">
            <a:avLst/>
          </a:prstGeom>
          <a:noFill/>
          <a:ln/>
        </p:spPr>
        <p:txBody>
          <a:bodyPr wrap="square" lIns="0" tIns="0" rIns="0" bIns="0" rtlCol="0" anchor="ctr">
            <a:normAutofit/>
          </a:bodyPr>
          <a:lstStyle/>
          <a:p>
            <a:pPr indent="0" marL="0">
              <a:buNone/>
            </a:pPr>
            <a:r>
              <a:rPr lang="en-US" sz="730" u="sng" dirty="0">
                <a:solidFill>
                  <a:srgbClr val="6B6761"/>
                </a:solidFill>
                <a:latin typeface="Avenir Next" pitchFamily="34" charset="0"/>
                <a:ea typeface="Avenir Next" pitchFamily="34" charset="-122"/>
                <a:cs typeface="Avenir N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Sources: Stanford ExploreCourses, Stanford Campus Map, OSM contributors and author-conducted survey</a:t>
            </a:r>
            <a:endParaRPr lang="en-US" sz="7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58368" y="283464"/>
            <a:ext cx="4389120" cy="164592"/>
          </a:xfrm>
          <a:prstGeom prst="rect">
            <a:avLst/>
          </a:prstGeom>
          <a:noFill/>
          <a:ln/>
        </p:spPr>
        <p:txBody>
          <a:bodyPr wrap="square" lIns="0" tIns="0" rIns="0" bIns="0" rtlCol="0" anchor="ctr"/>
          <a:lstStyle/>
          <a:p>
            <a:pPr indent="0" marL="0">
              <a:buNone/>
            </a:pPr>
            <a:r>
              <a:rPr lang="en-US" sz="880" b="1" spc="140" kern="0" dirty="0">
                <a:solidFill>
                  <a:srgbClr val="8C1515"/>
                </a:solidFill>
                <a:latin typeface="Avenir Next" pitchFamily="34" charset="0"/>
                <a:ea typeface="Avenir Next" pitchFamily="34" charset="-122"/>
                <a:cs typeface="Avenir Next" pitchFamily="34" charset="-120"/>
              </a:rPr>
              <a:t>DATA ANALYSIS AND 5WS</a:t>
            </a:r>
            <a:endParaRPr lang="en-US" sz="880" dirty="0"/>
          </a:p>
        </p:txBody>
      </p:sp>
      <p:sp>
        <p:nvSpPr>
          <p:cNvPr id="3" name="Text 1"/>
          <p:cNvSpPr/>
          <p:nvPr/>
        </p:nvSpPr>
        <p:spPr>
          <a:xfrm>
            <a:off x="10927080" y="283464"/>
            <a:ext cx="603504" cy="164592"/>
          </a:xfrm>
          <a:prstGeom prst="rect">
            <a:avLst/>
          </a:prstGeom>
          <a:noFill/>
          <a:ln/>
        </p:spPr>
        <p:txBody>
          <a:bodyPr wrap="square" lIns="0" tIns="0" rIns="0" bIns="0" rtlCol="0" anchor="ctr"/>
          <a:lstStyle/>
          <a:p>
            <a:pPr algn="r" indent="0" marL="0">
              <a:buNone/>
            </a:pPr>
            <a:r>
              <a:rPr lang="en-US" sz="830" b="1" dirty="0">
                <a:solidFill>
                  <a:srgbClr val="6B6761"/>
                </a:solidFill>
                <a:latin typeface="Avenir Next" pitchFamily="34" charset="0"/>
                <a:ea typeface="Avenir Next" pitchFamily="34" charset="-122"/>
                <a:cs typeface="Avenir Next" pitchFamily="34" charset="-120"/>
              </a:rPr>
              <a:t>3 / 7</a:t>
            </a:r>
            <a:endParaRPr lang="en-US" sz="830" dirty="0"/>
          </a:p>
        </p:txBody>
      </p:sp>
      <p:sp>
        <p:nvSpPr>
          <p:cNvPr id="4" name="Shape 2"/>
          <p:cNvSpPr/>
          <p:nvPr/>
        </p:nvSpPr>
        <p:spPr>
          <a:xfrm>
            <a:off x="658368" y="603504"/>
            <a:ext cx="10872216" cy="0"/>
          </a:xfrm>
          <a:prstGeom prst="line">
            <a:avLst/>
          </a:prstGeom>
          <a:noFill/>
          <a:ln w="12700">
            <a:solidFill>
              <a:srgbClr val="D8D0C4"/>
            </a:solidFill>
            <a:prstDash val="solid"/>
          </a:ln>
        </p:spPr>
      </p:sp>
      <p:sp>
        <p:nvSpPr>
          <p:cNvPr id="5" name="Text 3"/>
          <p:cNvSpPr/>
          <p:nvPr/>
        </p:nvSpPr>
        <p:spPr>
          <a:xfrm>
            <a:off x="658368" y="786384"/>
            <a:ext cx="10872216" cy="548640"/>
          </a:xfrm>
          <a:prstGeom prst="rect">
            <a:avLst/>
          </a:prstGeom>
          <a:noFill/>
          <a:ln/>
        </p:spPr>
        <p:txBody>
          <a:bodyPr wrap="square" lIns="0" tIns="0" rIns="0" bIns="0" rtlCol="0" anchor="ctr">
            <a:normAutofit/>
          </a:bodyPr>
          <a:lstStyle/>
          <a:p>
            <a:pPr indent="0" marL="0">
              <a:buNone/>
            </a:pPr>
            <a:r>
              <a:rPr lang="en-US" sz="2900" b="1" dirty="0">
                <a:solidFill>
                  <a:srgbClr val="161514"/>
                </a:solidFill>
                <a:latin typeface="Georgia" pitchFamily="34" charset="0"/>
                <a:ea typeface="Georgia" pitchFamily="34" charset="-122"/>
                <a:cs typeface="Georgia" pitchFamily="34" charset="-120"/>
              </a:rPr>
              <a:t>From 27,197 sections to 283,079 route tests.</a:t>
            </a:r>
            <a:endParaRPr lang="en-US" sz="2900" dirty="0"/>
          </a:p>
        </p:txBody>
      </p:sp>
      <p:sp>
        <p:nvSpPr>
          <p:cNvPr id="6" name="Text 4"/>
          <p:cNvSpPr/>
          <p:nvPr/>
        </p:nvSpPr>
        <p:spPr>
          <a:xfrm>
            <a:off x="676656" y="1344168"/>
            <a:ext cx="10744200" cy="256032"/>
          </a:xfrm>
          <a:prstGeom prst="rect">
            <a:avLst/>
          </a:prstGeom>
          <a:noFill/>
          <a:ln/>
        </p:spPr>
        <p:txBody>
          <a:bodyPr wrap="square" lIns="0" tIns="0" rIns="0" bIns="0" rtlCol="0" anchor="ctr">
            <a:normAutofit/>
          </a:bodyPr>
          <a:lstStyle/>
          <a:p>
            <a:pPr indent="0" marL="0">
              <a:buNone/>
            </a:pPr>
            <a:r>
              <a:rPr lang="en-US" sz="1150" dirty="0">
                <a:solidFill>
                  <a:srgbClr val="6B6761"/>
                </a:solidFill>
                <a:latin typeface="Avenir Next" pitchFamily="34" charset="0"/>
                <a:ea typeface="Avenir Next" pitchFamily="34" charset="-122"/>
                <a:cs typeface="Avenir Next" pitchFamily="34" charset="-120"/>
              </a:rPr>
              <a:t>Every eligible possible pair enters the denominator; unresolved locations are excluded rather than guessed.</a:t>
            </a:r>
            <a:endParaRPr lang="en-US" sz="1150" dirty="0"/>
          </a:p>
        </p:txBody>
      </p:sp>
      <p:sp>
        <p:nvSpPr>
          <p:cNvPr id="7" name="Text 5"/>
          <p:cNvSpPr/>
          <p:nvPr/>
        </p:nvSpPr>
        <p:spPr>
          <a:xfrm>
            <a:off x="694944" y="1847088"/>
            <a:ext cx="1627632" cy="329184"/>
          </a:xfrm>
          <a:prstGeom prst="rect">
            <a:avLst/>
          </a:prstGeom>
          <a:noFill/>
          <a:ln/>
        </p:spPr>
        <p:txBody>
          <a:bodyPr wrap="square" lIns="0" tIns="0" rIns="0" bIns="0" rtlCol="0" anchor="ctr">
            <a:normAutofit/>
          </a:bodyPr>
          <a:lstStyle/>
          <a:p>
            <a:pPr algn="ctr" indent="0" marL="0">
              <a:buNone/>
            </a:pPr>
            <a:r>
              <a:rPr lang="en-US" sz="2100" b="1" dirty="0">
                <a:solidFill>
                  <a:srgbClr val="161514"/>
                </a:solidFill>
                <a:latin typeface="Georgia" pitchFamily="34" charset="0"/>
                <a:ea typeface="Georgia" pitchFamily="34" charset="-122"/>
                <a:cs typeface="Georgia" pitchFamily="34" charset="-120"/>
              </a:rPr>
              <a:t>27,197</a:t>
            </a:r>
            <a:endParaRPr lang="en-US" sz="2100" dirty="0"/>
          </a:p>
        </p:txBody>
      </p:sp>
      <p:sp>
        <p:nvSpPr>
          <p:cNvPr id="8" name="Text 6"/>
          <p:cNvSpPr/>
          <p:nvPr/>
        </p:nvSpPr>
        <p:spPr>
          <a:xfrm>
            <a:off x="694944" y="2267712"/>
            <a:ext cx="1627632" cy="155448"/>
          </a:xfrm>
          <a:prstGeom prst="rect">
            <a:avLst/>
          </a:prstGeom>
          <a:noFill/>
          <a:ln/>
        </p:spPr>
        <p:txBody>
          <a:bodyPr wrap="square" lIns="0" tIns="0" rIns="0" bIns="0" rtlCol="0" anchor="ctr">
            <a:normAutofit/>
          </a:bodyPr>
          <a:lstStyle/>
          <a:p>
            <a:pPr algn="ctr" indent="0" marL="0">
              <a:buNone/>
            </a:pPr>
            <a:r>
              <a:rPr lang="en-US" sz="740" b="1" spc="60" kern="0" dirty="0">
                <a:solidFill>
                  <a:srgbClr val="6B6761"/>
                </a:solidFill>
                <a:latin typeface="Avenir Next" pitchFamily="34" charset="0"/>
                <a:ea typeface="Avenir Next" pitchFamily="34" charset="-122"/>
                <a:cs typeface="Avenir Next" pitchFamily="34" charset="-120"/>
              </a:rPr>
              <a:t>SECTIONS</a:t>
            </a:r>
            <a:endParaRPr lang="en-US" sz="740" dirty="0"/>
          </a:p>
        </p:txBody>
      </p:sp>
      <p:sp>
        <p:nvSpPr>
          <p:cNvPr id="9" name="Shape 7"/>
          <p:cNvSpPr/>
          <p:nvPr/>
        </p:nvSpPr>
        <p:spPr>
          <a:xfrm>
            <a:off x="2368296" y="2112264"/>
            <a:ext cx="438912" cy="0"/>
          </a:xfrm>
          <a:prstGeom prst="line">
            <a:avLst/>
          </a:prstGeom>
          <a:noFill/>
          <a:ln w="12700">
            <a:solidFill>
              <a:srgbClr val="C58D18"/>
            </a:solidFill>
            <a:prstDash val="solid"/>
          </a:ln>
        </p:spPr>
      </p:sp>
      <p:sp>
        <p:nvSpPr>
          <p:cNvPr id="10" name="Shape 8"/>
          <p:cNvSpPr/>
          <p:nvPr/>
        </p:nvSpPr>
        <p:spPr>
          <a:xfrm>
            <a:off x="2752344" y="2061972"/>
            <a:ext cx="100584" cy="100584"/>
          </a:xfrm>
          <a:prstGeom prst="ellipse">
            <a:avLst/>
          </a:prstGeom>
          <a:solidFill>
            <a:srgbClr val="C58D18"/>
          </a:solidFill>
          <a:ln w="12700">
            <a:solidFill>
              <a:srgbClr val="C58D18"/>
            </a:solidFill>
            <a:prstDash val="solid"/>
          </a:ln>
        </p:spPr>
      </p:sp>
      <p:sp>
        <p:nvSpPr>
          <p:cNvPr id="11" name="Text 9"/>
          <p:cNvSpPr/>
          <p:nvPr/>
        </p:nvSpPr>
        <p:spPr>
          <a:xfrm>
            <a:off x="2907792" y="1847088"/>
            <a:ext cx="1627632" cy="329184"/>
          </a:xfrm>
          <a:prstGeom prst="rect">
            <a:avLst/>
          </a:prstGeom>
          <a:noFill/>
          <a:ln/>
        </p:spPr>
        <p:txBody>
          <a:bodyPr wrap="square" lIns="0" tIns="0" rIns="0" bIns="0" rtlCol="0" anchor="ctr">
            <a:normAutofit/>
          </a:bodyPr>
          <a:lstStyle/>
          <a:p>
            <a:pPr algn="ctr" indent="0" marL="0">
              <a:buNone/>
            </a:pPr>
            <a:r>
              <a:rPr lang="en-US" sz="2100" b="1" dirty="0">
                <a:solidFill>
                  <a:srgbClr val="161514"/>
                </a:solidFill>
                <a:latin typeface="Georgia" pitchFamily="34" charset="0"/>
                <a:ea typeface="Georgia" pitchFamily="34" charset="-122"/>
                <a:cs typeface="Georgia" pitchFamily="34" charset="-120"/>
              </a:rPr>
              <a:t>6,026</a:t>
            </a:r>
            <a:endParaRPr lang="en-US" sz="2100" dirty="0"/>
          </a:p>
        </p:txBody>
      </p:sp>
      <p:sp>
        <p:nvSpPr>
          <p:cNvPr id="12" name="Text 10"/>
          <p:cNvSpPr/>
          <p:nvPr/>
        </p:nvSpPr>
        <p:spPr>
          <a:xfrm>
            <a:off x="2907792" y="2267712"/>
            <a:ext cx="1627632" cy="155448"/>
          </a:xfrm>
          <a:prstGeom prst="rect">
            <a:avLst/>
          </a:prstGeom>
          <a:noFill/>
          <a:ln/>
        </p:spPr>
        <p:txBody>
          <a:bodyPr wrap="square" lIns="0" tIns="0" rIns="0" bIns="0" rtlCol="0" anchor="ctr">
            <a:normAutofit/>
          </a:bodyPr>
          <a:lstStyle/>
          <a:p>
            <a:pPr algn="ctr" indent="0" marL="0">
              <a:buNone/>
            </a:pPr>
            <a:r>
              <a:rPr lang="en-US" sz="740" b="1" spc="60" kern="0" dirty="0">
                <a:solidFill>
                  <a:srgbClr val="6B6761"/>
                </a:solidFill>
                <a:latin typeface="Avenir Next" pitchFamily="34" charset="0"/>
                <a:ea typeface="Avenir Next" pitchFamily="34" charset="-122"/>
                <a:cs typeface="Avenir Next" pitchFamily="34" charset="-120"/>
              </a:rPr>
              <a:t>ELIGIBLE ROWS</a:t>
            </a:r>
            <a:endParaRPr lang="en-US" sz="740" dirty="0"/>
          </a:p>
        </p:txBody>
      </p:sp>
      <p:sp>
        <p:nvSpPr>
          <p:cNvPr id="13" name="Shape 11"/>
          <p:cNvSpPr/>
          <p:nvPr/>
        </p:nvSpPr>
        <p:spPr>
          <a:xfrm>
            <a:off x="4581144" y="2112264"/>
            <a:ext cx="438912" cy="0"/>
          </a:xfrm>
          <a:prstGeom prst="line">
            <a:avLst/>
          </a:prstGeom>
          <a:noFill/>
          <a:ln w="12700">
            <a:solidFill>
              <a:srgbClr val="C58D18"/>
            </a:solidFill>
            <a:prstDash val="solid"/>
          </a:ln>
        </p:spPr>
      </p:sp>
      <p:sp>
        <p:nvSpPr>
          <p:cNvPr id="14" name="Shape 12"/>
          <p:cNvSpPr/>
          <p:nvPr/>
        </p:nvSpPr>
        <p:spPr>
          <a:xfrm>
            <a:off x="4965192" y="2061972"/>
            <a:ext cx="100584" cy="100584"/>
          </a:xfrm>
          <a:prstGeom prst="ellipse">
            <a:avLst/>
          </a:prstGeom>
          <a:solidFill>
            <a:srgbClr val="C58D18"/>
          </a:solidFill>
          <a:ln w="12700">
            <a:solidFill>
              <a:srgbClr val="C58D18"/>
            </a:solidFill>
            <a:prstDash val="solid"/>
          </a:ln>
        </p:spPr>
      </p:sp>
      <p:sp>
        <p:nvSpPr>
          <p:cNvPr id="15" name="Text 13"/>
          <p:cNvSpPr/>
          <p:nvPr/>
        </p:nvSpPr>
        <p:spPr>
          <a:xfrm>
            <a:off x="5120640" y="1847088"/>
            <a:ext cx="1627632" cy="329184"/>
          </a:xfrm>
          <a:prstGeom prst="rect">
            <a:avLst/>
          </a:prstGeom>
          <a:noFill/>
          <a:ln/>
        </p:spPr>
        <p:txBody>
          <a:bodyPr wrap="square" lIns="0" tIns="0" rIns="0" bIns="0" rtlCol="0" anchor="ctr">
            <a:normAutofit/>
          </a:bodyPr>
          <a:lstStyle/>
          <a:p>
            <a:pPr algn="ctr" indent="0" marL="0">
              <a:buNone/>
            </a:pPr>
            <a:r>
              <a:rPr lang="en-US" sz="2100" b="1" dirty="0">
                <a:solidFill>
                  <a:srgbClr val="161514"/>
                </a:solidFill>
                <a:latin typeface="Georgia" pitchFamily="34" charset="0"/>
                <a:ea typeface="Georgia" pitchFamily="34" charset="-122"/>
                <a:cs typeface="Georgia" pitchFamily="34" charset="-120"/>
              </a:rPr>
              <a:t>5,848</a:t>
            </a:r>
            <a:endParaRPr lang="en-US" sz="2100" dirty="0"/>
          </a:p>
        </p:txBody>
      </p:sp>
      <p:sp>
        <p:nvSpPr>
          <p:cNvPr id="16" name="Text 14"/>
          <p:cNvSpPr/>
          <p:nvPr/>
        </p:nvSpPr>
        <p:spPr>
          <a:xfrm>
            <a:off x="5120640" y="2267712"/>
            <a:ext cx="1627632" cy="155448"/>
          </a:xfrm>
          <a:prstGeom prst="rect">
            <a:avLst/>
          </a:prstGeom>
          <a:noFill/>
          <a:ln/>
        </p:spPr>
        <p:txBody>
          <a:bodyPr wrap="square" lIns="0" tIns="0" rIns="0" bIns="0" rtlCol="0" anchor="ctr">
            <a:normAutofit/>
          </a:bodyPr>
          <a:lstStyle/>
          <a:p>
            <a:pPr algn="ctr" indent="0" marL="0">
              <a:buNone/>
            </a:pPr>
            <a:r>
              <a:rPr lang="en-US" sz="740" b="1" spc="60" kern="0" dirty="0">
                <a:solidFill>
                  <a:srgbClr val="6B6761"/>
                </a:solidFill>
                <a:latin typeface="Avenir Next" pitchFamily="34" charset="0"/>
                <a:ea typeface="Avenir Next" pitchFamily="34" charset="-122"/>
                <a:cs typeface="Avenir Next" pitchFamily="34" charset="-120"/>
              </a:rPr>
              <a:t>MAPPED ROWS</a:t>
            </a:r>
            <a:endParaRPr lang="en-US" sz="740" dirty="0"/>
          </a:p>
        </p:txBody>
      </p:sp>
      <p:sp>
        <p:nvSpPr>
          <p:cNvPr id="17" name="Shape 15"/>
          <p:cNvSpPr/>
          <p:nvPr/>
        </p:nvSpPr>
        <p:spPr>
          <a:xfrm>
            <a:off x="6793992" y="2112264"/>
            <a:ext cx="438912" cy="0"/>
          </a:xfrm>
          <a:prstGeom prst="line">
            <a:avLst/>
          </a:prstGeom>
          <a:noFill/>
          <a:ln w="12700">
            <a:solidFill>
              <a:srgbClr val="C58D18"/>
            </a:solidFill>
            <a:prstDash val="solid"/>
          </a:ln>
        </p:spPr>
      </p:sp>
      <p:sp>
        <p:nvSpPr>
          <p:cNvPr id="18" name="Shape 16"/>
          <p:cNvSpPr/>
          <p:nvPr/>
        </p:nvSpPr>
        <p:spPr>
          <a:xfrm>
            <a:off x="7178040" y="2061972"/>
            <a:ext cx="100584" cy="100584"/>
          </a:xfrm>
          <a:prstGeom prst="ellipse">
            <a:avLst/>
          </a:prstGeom>
          <a:solidFill>
            <a:srgbClr val="C58D18"/>
          </a:solidFill>
          <a:ln w="12700">
            <a:solidFill>
              <a:srgbClr val="C58D18"/>
            </a:solidFill>
            <a:prstDash val="solid"/>
          </a:ln>
        </p:spPr>
      </p:sp>
      <p:sp>
        <p:nvSpPr>
          <p:cNvPr id="19" name="Text 17"/>
          <p:cNvSpPr/>
          <p:nvPr/>
        </p:nvSpPr>
        <p:spPr>
          <a:xfrm>
            <a:off x="7333488" y="1847088"/>
            <a:ext cx="1627632" cy="329184"/>
          </a:xfrm>
          <a:prstGeom prst="rect">
            <a:avLst/>
          </a:prstGeom>
          <a:noFill/>
          <a:ln/>
        </p:spPr>
        <p:txBody>
          <a:bodyPr wrap="square" lIns="0" tIns="0" rIns="0" bIns="0" rtlCol="0" anchor="ctr">
            <a:normAutofit/>
          </a:bodyPr>
          <a:lstStyle/>
          <a:p>
            <a:pPr algn="ctr" indent="0" marL="0">
              <a:buNone/>
            </a:pPr>
            <a:r>
              <a:rPr lang="en-US" sz="2100" b="1" dirty="0">
                <a:solidFill>
                  <a:srgbClr val="161514"/>
                </a:solidFill>
                <a:latin typeface="Georgia" pitchFamily="34" charset="0"/>
                <a:ea typeface="Georgia" pitchFamily="34" charset="-122"/>
                <a:cs typeface="Georgia" pitchFamily="34" charset="-120"/>
              </a:rPr>
              <a:t>4,454</a:t>
            </a:r>
            <a:endParaRPr lang="en-US" sz="2100" dirty="0"/>
          </a:p>
        </p:txBody>
      </p:sp>
      <p:sp>
        <p:nvSpPr>
          <p:cNvPr id="20" name="Text 18"/>
          <p:cNvSpPr/>
          <p:nvPr/>
        </p:nvSpPr>
        <p:spPr>
          <a:xfrm>
            <a:off x="7333488" y="2267712"/>
            <a:ext cx="1627632" cy="155448"/>
          </a:xfrm>
          <a:prstGeom prst="rect">
            <a:avLst/>
          </a:prstGeom>
          <a:noFill/>
          <a:ln/>
        </p:spPr>
        <p:txBody>
          <a:bodyPr wrap="square" lIns="0" tIns="0" rIns="0" bIns="0" rtlCol="0" anchor="ctr">
            <a:normAutofit/>
          </a:bodyPr>
          <a:lstStyle/>
          <a:p>
            <a:pPr algn="ctr" indent="0" marL="0">
              <a:buNone/>
            </a:pPr>
            <a:r>
              <a:rPr lang="en-US" sz="740" b="1" spc="60" kern="0" dirty="0">
                <a:solidFill>
                  <a:srgbClr val="6B6761"/>
                </a:solidFill>
                <a:latin typeface="Avenir Next" pitchFamily="34" charset="0"/>
                <a:ea typeface="Avenir Next" pitchFamily="34" charset="-122"/>
                <a:cs typeface="Avenir Next" pitchFamily="34" charset="-120"/>
              </a:rPr>
              <a:t>PHYSICAL MEETINGS</a:t>
            </a:r>
            <a:endParaRPr lang="en-US" sz="740" dirty="0"/>
          </a:p>
        </p:txBody>
      </p:sp>
      <p:sp>
        <p:nvSpPr>
          <p:cNvPr id="21" name="Shape 19"/>
          <p:cNvSpPr/>
          <p:nvPr/>
        </p:nvSpPr>
        <p:spPr>
          <a:xfrm>
            <a:off x="9006840" y="2112264"/>
            <a:ext cx="438912" cy="0"/>
          </a:xfrm>
          <a:prstGeom prst="line">
            <a:avLst/>
          </a:prstGeom>
          <a:noFill/>
          <a:ln w="12700">
            <a:solidFill>
              <a:srgbClr val="C58D18"/>
            </a:solidFill>
            <a:prstDash val="solid"/>
          </a:ln>
        </p:spPr>
      </p:sp>
      <p:sp>
        <p:nvSpPr>
          <p:cNvPr id="22" name="Shape 20"/>
          <p:cNvSpPr/>
          <p:nvPr/>
        </p:nvSpPr>
        <p:spPr>
          <a:xfrm>
            <a:off x="9390888" y="2061972"/>
            <a:ext cx="100584" cy="100584"/>
          </a:xfrm>
          <a:prstGeom prst="ellipse">
            <a:avLst/>
          </a:prstGeom>
          <a:solidFill>
            <a:srgbClr val="C58D18"/>
          </a:solidFill>
          <a:ln w="12700">
            <a:solidFill>
              <a:srgbClr val="C58D18"/>
            </a:solidFill>
            <a:prstDash val="solid"/>
          </a:ln>
        </p:spPr>
      </p:sp>
      <p:sp>
        <p:nvSpPr>
          <p:cNvPr id="23" name="Text 21"/>
          <p:cNvSpPr/>
          <p:nvPr/>
        </p:nvSpPr>
        <p:spPr>
          <a:xfrm>
            <a:off x="9546336" y="1847088"/>
            <a:ext cx="1627632" cy="329184"/>
          </a:xfrm>
          <a:prstGeom prst="rect">
            <a:avLst/>
          </a:prstGeom>
          <a:noFill/>
          <a:ln/>
        </p:spPr>
        <p:txBody>
          <a:bodyPr wrap="square" lIns="0" tIns="0" rIns="0" bIns="0" rtlCol="0" anchor="ctr">
            <a:normAutofit/>
          </a:bodyPr>
          <a:lstStyle/>
          <a:p>
            <a:pPr algn="ctr" indent="0" marL="0">
              <a:buNone/>
            </a:pPr>
            <a:r>
              <a:rPr lang="en-US" sz="2300" b="1" dirty="0">
                <a:solidFill>
                  <a:srgbClr val="8C1515"/>
                </a:solidFill>
                <a:latin typeface="Georgia" pitchFamily="34" charset="0"/>
                <a:ea typeface="Georgia" pitchFamily="34" charset="-122"/>
                <a:cs typeface="Georgia" pitchFamily="34" charset="-120"/>
              </a:rPr>
              <a:t>283,079</a:t>
            </a:r>
            <a:endParaRPr lang="en-US" sz="2300" dirty="0"/>
          </a:p>
        </p:txBody>
      </p:sp>
      <p:sp>
        <p:nvSpPr>
          <p:cNvPr id="24" name="Text 22"/>
          <p:cNvSpPr/>
          <p:nvPr/>
        </p:nvSpPr>
        <p:spPr>
          <a:xfrm>
            <a:off x="9546336" y="2267712"/>
            <a:ext cx="1627632" cy="155448"/>
          </a:xfrm>
          <a:prstGeom prst="rect">
            <a:avLst/>
          </a:prstGeom>
          <a:noFill/>
          <a:ln/>
        </p:spPr>
        <p:txBody>
          <a:bodyPr wrap="square" lIns="0" tIns="0" rIns="0" bIns="0" rtlCol="0" anchor="ctr">
            <a:normAutofit/>
          </a:bodyPr>
          <a:lstStyle/>
          <a:p>
            <a:pPr algn="ctr" indent="0" marL="0">
              <a:buNone/>
            </a:pPr>
            <a:r>
              <a:rPr lang="en-US" sz="740" b="1" spc="60" kern="0" dirty="0">
                <a:solidFill>
                  <a:srgbClr val="6B6761"/>
                </a:solidFill>
                <a:latin typeface="Avenir Next" pitchFamily="34" charset="0"/>
                <a:ea typeface="Avenir Next" pitchFamily="34" charset="-122"/>
                <a:cs typeface="Avenir Next" pitchFamily="34" charset="-120"/>
              </a:rPr>
              <a:t>POSSIBLE PAIRS</a:t>
            </a:r>
            <a:endParaRPr lang="en-US" sz="740" dirty="0"/>
          </a:p>
        </p:txBody>
      </p:sp>
      <p:sp>
        <p:nvSpPr>
          <p:cNvPr id="25" name="Shape 23"/>
          <p:cNvSpPr/>
          <p:nvPr/>
        </p:nvSpPr>
        <p:spPr>
          <a:xfrm>
            <a:off x="694944" y="2688336"/>
            <a:ext cx="10771632" cy="0"/>
          </a:xfrm>
          <a:prstGeom prst="line">
            <a:avLst/>
          </a:prstGeom>
          <a:noFill/>
          <a:ln w="12700">
            <a:solidFill>
              <a:srgbClr val="D8D0C4"/>
            </a:solidFill>
            <a:prstDash val="solid"/>
          </a:ln>
        </p:spPr>
      </p:sp>
      <p:sp>
        <p:nvSpPr>
          <p:cNvPr id="26" name="Text 24"/>
          <p:cNvSpPr/>
          <p:nvPr/>
        </p:nvSpPr>
        <p:spPr>
          <a:xfrm>
            <a:off x="694944" y="3063240"/>
            <a:ext cx="2194560" cy="164592"/>
          </a:xfrm>
          <a:prstGeom prst="rect">
            <a:avLst/>
          </a:prstGeom>
          <a:noFill/>
          <a:ln/>
        </p:spPr>
        <p:txBody>
          <a:bodyPr wrap="square" lIns="0" tIns="0" rIns="0" bIns="0" rtlCol="0" anchor="ctr"/>
          <a:lstStyle/>
          <a:p>
            <a:pPr indent="0" marL="0">
              <a:buNone/>
            </a:pPr>
            <a:r>
              <a:rPr lang="en-US" sz="840" b="1" spc="110" kern="0" dirty="0">
                <a:solidFill>
                  <a:srgbClr val="8C1515"/>
                </a:solidFill>
                <a:latin typeface="Avenir Next" pitchFamily="34" charset="0"/>
                <a:ea typeface="Avenir Next" pitchFamily="34" charset="-122"/>
                <a:cs typeface="Avenir Next" pitchFamily="34" charset="-120"/>
              </a:rPr>
              <a:t>UNIT OF ANALYSIS</a:t>
            </a:r>
            <a:endParaRPr lang="en-US" sz="840" dirty="0"/>
          </a:p>
        </p:txBody>
      </p:sp>
      <p:sp>
        <p:nvSpPr>
          <p:cNvPr id="27" name="Text 25"/>
          <p:cNvSpPr/>
          <p:nvPr/>
        </p:nvSpPr>
        <p:spPr>
          <a:xfrm>
            <a:off x="694944" y="3456432"/>
            <a:ext cx="3246120" cy="786384"/>
          </a:xfrm>
          <a:prstGeom prst="rect">
            <a:avLst/>
          </a:prstGeom>
          <a:noFill/>
          <a:ln/>
        </p:spPr>
        <p:txBody>
          <a:bodyPr wrap="square" lIns="0" tIns="0" rIns="0" bIns="0" rtlCol="0" anchor="ctr">
            <a:normAutofit/>
          </a:bodyPr>
          <a:lstStyle/>
          <a:p>
            <a:pPr indent="0" marL="0">
              <a:buNone/>
            </a:pPr>
            <a:r>
              <a:rPr lang="en-US" sz="2900" b="1" dirty="0">
                <a:solidFill>
                  <a:srgbClr val="161514"/>
                </a:solidFill>
                <a:latin typeface="Georgia" pitchFamily="34" charset="0"/>
                <a:ea typeface="Georgia" pitchFamily="34" charset="-122"/>
                <a:cs typeface="Georgia" pitchFamily="34" charset="-120"/>
              </a:rPr>
              <a:t>One possible</a:t>
            </a:r>
            <a:endParaRPr lang="en-US" sz="2900" dirty="0"/>
          </a:p>
          <a:p>
            <a:pPr indent="0" marL="0">
              <a:buNone/>
            </a:pPr>
            <a:r>
              <a:rPr lang="en-US" sz="2900" b="1" dirty="0">
                <a:solidFill>
                  <a:srgbClr val="161514"/>
                </a:solidFill>
                <a:latin typeface="Georgia" pitchFamily="34" charset="0"/>
                <a:ea typeface="Georgia" pitchFamily="34" charset="-122"/>
                <a:cs typeface="Georgia" pitchFamily="34" charset="-120"/>
              </a:rPr>
              <a:t>ordered pair</a:t>
            </a:r>
            <a:endParaRPr lang="en-US" sz="2900" dirty="0"/>
          </a:p>
        </p:txBody>
      </p:sp>
      <p:sp>
        <p:nvSpPr>
          <p:cNvPr id="28" name="Text 26"/>
          <p:cNvSpPr/>
          <p:nvPr/>
        </p:nvSpPr>
        <p:spPr>
          <a:xfrm>
            <a:off x="713232" y="4443984"/>
            <a:ext cx="3383280" cy="566928"/>
          </a:xfrm>
          <a:prstGeom prst="rect">
            <a:avLst/>
          </a:prstGeom>
          <a:noFill/>
          <a:ln/>
        </p:spPr>
        <p:txBody>
          <a:bodyPr wrap="square" lIns="0" tIns="0" rIns="0" bIns="0" rtlCol="0" anchor="t">
            <a:normAutofit/>
          </a:bodyPr>
          <a:lstStyle/>
          <a:p>
            <a:pPr indent="0" marL="0">
              <a:buNone/>
            </a:pPr>
            <a:r>
              <a:rPr lang="en-US" sz="1200" dirty="0">
                <a:solidFill>
                  <a:srgbClr val="6B6761"/>
                </a:solidFill>
                <a:latin typeface="Avenir Next" pitchFamily="34" charset="0"/>
                <a:ea typeface="Avenir Next" pitchFamily="34" charset="-122"/>
                <a:cs typeface="Avenir Next" pitchFamily="34" charset="-120"/>
              </a:rPr>
              <a:t>Two physical meetings on the same weekday, exactly ten minutes apart, both mapped to facilities.</a:t>
            </a:r>
            <a:endParaRPr lang="en-US" sz="1200" dirty="0"/>
          </a:p>
        </p:txBody>
      </p:sp>
      <p:sp>
        <p:nvSpPr>
          <p:cNvPr id="29" name="Text 27"/>
          <p:cNvSpPr/>
          <p:nvPr/>
        </p:nvSpPr>
        <p:spPr>
          <a:xfrm>
            <a:off x="713232" y="5230368"/>
            <a:ext cx="3337560" cy="347472"/>
          </a:xfrm>
          <a:prstGeom prst="rect">
            <a:avLst/>
          </a:prstGeom>
          <a:noFill/>
          <a:ln/>
        </p:spPr>
        <p:txBody>
          <a:bodyPr wrap="square" lIns="0" tIns="0" rIns="0" bIns="0" rtlCol="0" anchor="ctr">
            <a:normAutofit/>
          </a:bodyPr>
          <a:lstStyle/>
          <a:p>
            <a:pPr indent="0" marL="0">
              <a:buNone/>
            </a:pPr>
            <a:r>
              <a:rPr lang="en-US" sz="1040" b="1" dirty="0">
                <a:solidFill>
                  <a:srgbClr val="8C1515"/>
                </a:solidFill>
                <a:latin typeface="Avenir Next" pitchFamily="34" charset="0"/>
                <a:ea typeface="Avenir Next" pitchFamily="34" charset="-122"/>
                <a:cs typeface="Avenir Next" pitchFamily="34" charset="-120"/>
              </a:rPr>
              <a:t>Not co-enrollment. Not an observed trip. Not a lateness rate.</a:t>
            </a:r>
            <a:endParaRPr lang="en-US" sz="1040" dirty="0"/>
          </a:p>
        </p:txBody>
      </p:sp>
      <p:sp>
        <p:nvSpPr>
          <p:cNvPr id="30" name="Shape 28"/>
          <p:cNvSpPr/>
          <p:nvPr/>
        </p:nvSpPr>
        <p:spPr>
          <a:xfrm>
            <a:off x="4645152" y="3054096"/>
            <a:ext cx="6812280" cy="0"/>
          </a:xfrm>
          <a:prstGeom prst="line">
            <a:avLst/>
          </a:prstGeom>
          <a:noFill/>
          <a:ln w="12700">
            <a:solidFill>
              <a:srgbClr val="D8D0C4"/>
            </a:solidFill>
            <a:prstDash val="solid"/>
          </a:ln>
        </p:spPr>
      </p:sp>
      <p:sp>
        <p:nvSpPr>
          <p:cNvPr id="31" name="Text 29"/>
          <p:cNvSpPr/>
          <p:nvPr/>
        </p:nvSpPr>
        <p:spPr>
          <a:xfrm>
            <a:off x="4645152" y="3218688"/>
            <a:ext cx="594360" cy="146304"/>
          </a:xfrm>
          <a:prstGeom prst="rect">
            <a:avLst/>
          </a:prstGeom>
          <a:noFill/>
          <a:ln/>
        </p:spPr>
        <p:txBody>
          <a:bodyPr wrap="square" lIns="0" tIns="0" rIns="0" bIns="0" rtlCol="0" anchor="ctr"/>
          <a:lstStyle/>
          <a:p>
            <a:pPr indent="0" marL="0">
              <a:buNone/>
            </a:pPr>
            <a:r>
              <a:rPr lang="en-US" sz="800" b="1" spc="80" kern="0" dirty="0">
                <a:solidFill>
                  <a:srgbClr val="8C1515"/>
                </a:solidFill>
                <a:latin typeface="Avenir Next" pitchFamily="34" charset="0"/>
                <a:ea typeface="Avenir Next" pitchFamily="34" charset="-122"/>
                <a:cs typeface="Avenir Next" pitchFamily="34" charset="-120"/>
              </a:rPr>
              <a:t>WHO</a:t>
            </a:r>
            <a:endParaRPr lang="en-US" sz="800" dirty="0"/>
          </a:p>
        </p:txBody>
      </p:sp>
      <p:sp>
        <p:nvSpPr>
          <p:cNvPr id="32" name="Text 30"/>
          <p:cNvSpPr/>
          <p:nvPr/>
        </p:nvSpPr>
        <p:spPr>
          <a:xfrm>
            <a:off x="5486400" y="3154680"/>
            <a:ext cx="3474720" cy="219456"/>
          </a:xfrm>
          <a:prstGeom prst="rect">
            <a:avLst/>
          </a:prstGeom>
          <a:noFill/>
          <a:ln/>
        </p:spPr>
        <p:txBody>
          <a:bodyPr wrap="square" lIns="0" tIns="0" rIns="0" bIns="0" rtlCol="0" anchor="ctr">
            <a:normAutofit/>
          </a:bodyPr>
          <a:lstStyle/>
          <a:p>
            <a:pPr indent="0" marL="0">
              <a:buNone/>
            </a:pPr>
            <a:r>
              <a:rPr lang="en-US" sz="1150" b="1" dirty="0">
                <a:solidFill>
                  <a:srgbClr val="161514"/>
                </a:solidFill>
                <a:latin typeface="Avenir Next" pitchFamily="34" charset="0"/>
                <a:ea typeface="Avenir Next" pitchFamily="34" charset="-122"/>
                <a:cs typeface="Avenir Next" pitchFamily="34" charset="-120"/>
              </a:rPr>
              <a:t>Published physical meetings</a:t>
            </a:r>
            <a:endParaRPr lang="en-US" sz="1150" dirty="0"/>
          </a:p>
        </p:txBody>
      </p:sp>
      <p:sp>
        <p:nvSpPr>
          <p:cNvPr id="33" name="Text 31"/>
          <p:cNvSpPr/>
          <p:nvPr/>
        </p:nvSpPr>
        <p:spPr>
          <a:xfrm>
            <a:off x="9345168" y="3172968"/>
            <a:ext cx="1920240" cy="182880"/>
          </a:xfrm>
          <a:prstGeom prst="rect">
            <a:avLst/>
          </a:prstGeom>
          <a:noFill/>
          <a:ln/>
        </p:spPr>
        <p:txBody>
          <a:bodyPr wrap="square" lIns="0" tIns="0" rIns="0" bIns="0" rtlCol="0" anchor="ctr">
            <a:normAutofit/>
          </a:bodyPr>
          <a:lstStyle/>
          <a:p>
            <a:pPr algn="r" indent="0" marL="0">
              <a:buNone/>
            </a:pPr>
            <a:r>
              <a:rPr lang="en-US" sz="940" dirty="0">
                <a:solidFill>
                  <a:srgbClr val="6B6761"/>
                </a:solidFill>
                <a:latin typeface="Avenir Next" pitchFamily="34" charset="0"/>
                <a:ea typeface="Avenir Next" pitchFamily="34" charset="-122"/>
                <a:cs typeface="Avenir Next" pitchFamily="34" charset="-120"/>
              </a:rPr>
              <a:t>not students</a:t>
            </a:r>
            <a:endParaRPr lang="en-US" sz="940" dirty="0"/>
          </a:p>
        </p:txBody>
      </p:sp>
      <p:sp>
        <p:nvSpPr>
          <p:cNvPr id="34" name="Shape 32"/>
          <p:cNvSpPr/>
          <p:nvPr/>
        </p:nvSpPr>
        <p:spPr>
          <a:xfrm>
            <a:off x="4645152" y="3611880"/>
            <a:ext cx="6812280" cy="0"/>
          </a:xfrm>
          <a:prstGeom prst="line">
            <a:avLst/>
          </a:prstGeom>
          <a:noFill/>
          <a:ln w="12700">
            <a:solidFill>
              <a:srgbClr val="D8D0C4"/>
            </a:solidFill>
            <a:prstDash val="solid"/>
          </a:ln>
        </p:spPr>
      </p:sp>
      <p:sp>
        <p:nvSpPr>
          <p:cNvPr id="35" name="Text 33"/>
          <p:cNvSpPr/>
          <p:nvPr/>
        </p:nvSpPr>
        <p:spPr>
          <a:xfrm>
            <a:off x="4645152" y="3776472"/>
            <a:ext cx="594360" cy="146304"/>
          </a:xfrm>
          <a:prstGeom prst="rect">
            <a:avLst/>
          </a:prstGeom>
          <a:noFill/>
          <a:ln/>
        </p:spPr>
        <p:txBody>
          <a:bodyPr wrap="square" lIns="0" tIns="0" rIns="0" bIns="0" rtlCol="0" anchor="ctr"/>
          <a:lstStyle/>
          <a:p>
            <a:pPr indent="0" marL="0">
              <a:buNone/>
            </a:pPr>
            <a:r>
              <a:rPr lang="en-US" sz="800" b="1" spc="80" kern="0" dirty="0">
                <a:solidFill>
                  <a:srgbClr val="8C1515"/>
                </a:solidFill>
                <a:latin typeface="Avenir Next" pitchFamily="34" charset="0"/>
                <a:ea typeface="Avenir Next" pitchFamily="34" charset="-122"/>
                <a:cs typeface="Avenir Next" pitchFamily="34" charset="-120"/>
              </a:rPr>
              <a:t>WHAT</a:t>
            </a:r>
            <a:endParaRPr lang="en-US" sz="800" dirty="0"/>
          </a:p>
        </p:txBody>
      </p:sp>
      <p:sp>
        <p:nvSpPr>
          <p:cNvPr id="36" name="Text 34"/>
          <p:cNvSpPr/>
          <p:nvPr/>
        </p:nvSpPr>
        <p:spPr>
          <a:xfrm>
            <a:off x="5486400" y="3712464"/>
            <a:ext cx="3474720" cy="219456"/>
          </a:xfrm>
          <a:prstGeom prst="rect">
            <a:avLst/>
          </a:prstGeom>
          <a:noFill/>
          <a:ln/>
        </p:spPr>
        <p:txBody>
          <a:bodyPr wrap="square" lIns="0" tIns="0" rIns="0" bIns="0" rtlCol="0" anchor="ctr">
            <a:normAutofit/>
          </a:bodyPr>
          <a:lstStyle/>
          <a:p>
            <a:pPr indent="0" marL="0">
              <a:buNone/>
            </a:pPr>
            <a:r>
              <a:rPr lang="en-US" sz="1150" b="1" dirty="0">
                <a:solidFill>
                  <a:srgbClr val="161514"/>
                </a:solidFill>
                <a:latin typeface="Avenir Next" pitchFamily="34" charset="0"/>
                <a:ea typeface="Avenir Next" pitchFamily="34" charset="-122"/>
                <a:cs typeface="Avenir Next" pitchFamily="34" charset="-120"/>
              </a:rPr>
              <a:t>Possible consecutive pairs</a:t>
            </a:r>
            <a:endParaRPr lang="en-US" sz="1150" dirty="0"/>
          </a:p>
        </p:txBody>
      </p:sp>
      <p:sp>
        <p:nvSpPr>
          <p:cNvPr id="37" name="Text 35"/>
          <p:cNvSpPr/>
          <p:nvPr/>
        </p:nvSpPr>
        <p:spPr>
          <a:xfrm>
            <a:off x="9345168" y="3730752"/>
            <a:ext cx="1920240" cy="182880"/>
          </a:xfrm>
          <a:prstGeom prst="rect">
            <a:avLst/>
          </a:prstGeom>
          <a:noFill/>
          <a:ln/>
        </p:spPr>
        <p:txBody>
          <a:bodyPr wrap="square" lIns="0" tIns="0" rIns="0" bIns="0" rtlCol="0" anchor="ctr">
            <a:normAutofit/>
          </a:bodyPr>
          <a:lstStyle/>
          <a:p>
            <a:pPr algn="r" indent="0" marL="0">
              <a:buNone/>
            </a:pPr>
            <a:r>
              <a:rPr lang="en-US" sz="940" dirty="0">
                <a:solidFill>
                  <a:srgbClr val="6B6761"/>
                </a:solidFill>
                <a:latin typeface="Avenir Next" pitchFamily="34" charset="0"/>
                <a:ea typeface="Avenir Next" pitchFamily="34" charset="-122"/>
                <a:cs typeface="Avenir Next" pitchFamily="34" charset="-120"/>
              </a:rPr>
              <a:t>shortest routes</a:t>
            </a:r>
            <a:endParaRPr lang="en-US" sz="940" dirty="0"/>
          </a:p>
        </p:txBody>
      </p:sp>
      <p:sp>
        <p:nvSpPr>
          <p:cNvPr id="38" name="Shape 36"/>
          <p:cNvSpPr/>
          <p:nvPr/>
        </p:nvSpPr>
        <p:spPr>
          <a:xfrm>
            <a:off x="4645152" y="4169664"/>
            <a:ext cx="6812280" cy="0"/>
          </a:xfrm>
          <a:prstGeom prst="line">
            <a:avLst/>
          </a:prstGeom>
          <a:noFill/>
          <a:ln w="12700">
            <a:solidFill>
              <a:srgbClr val="D8D0C4"/>
            </a:solidFill>
            <a:prstDash val="solid"/>
          </a:ln>
        </p:spPr>
      </p:sp>
      <p:sp>
        <p:nvSpPr>
          <p:cNvPr id="39" name="Text 37"/>
          <p:cNvSpPr/>
          <p:nvPr/>
        </p:nvSpPr>
        <p:spPr>
          <a:xfrm>
            <a:off x="4645152" y="4334256"/>
            <a:ext cx="594360" cy="146304"/>
          </a:xfrm>
          <a:prstGeom prst="rect">
            <a:avLst/>
          </a:prstGeom>
          <a:noFill/>
          <a:ln/>
        </p:spPr>
        <p:txBody>
          <a:bodyPr wrap="square" lIns="0" tIns="0" rIns="0" bIns="0" rtlCol="0" anchor="ctr"/>
          <a:lstStyle/>
          <a:p>
            <a:pPr indent="0" marL="0">
              <a:buNone/>
            </a:pPr>
            <a:r>
              <a:rPr lang="en-US" sz="800" b="1" spc="80" kern="0" dirty="0">
                <a:solidFill>
                  <a:srgbClr val="8C1515"/>
                </a:solidFill>
                <a:latin typeface="Avenir Next" pitchFamily="34" charset="0"/>
                <a:ea typeface="Avenir Next" pitchFamily="34" charset="-122"/>
                <a:cs typeface="Avenir Next" pitchFamily="34" charset="-120"/>
              </a:rPr>
              <a:t>WHEN</a:t>
            </a:r>
            <a:endParaRPr lang="en-US" sz="800" dirty="0"/>
          </a:p>
        </p:txBody>
      </p:sp>
      <p:sp>
        <p:nvSpPr>
          <p:cNvPr id="40" name="Text 38"/>
          <p:cNvSpPr/>
          <p:nvPr/>
        </p:nvSpPr>
        <p:spPr>
          <a:xfrm>
            <a:off x="5486400" y="4270248"/>
            <a:ext cx="3474720" cy="219456"/>
          </a:xfrm>
          <a:prstGeom prst="rect">
            <a:avLst/>
          </a:prstGeom>
          <a:noFill/>
          <a:ln/>
        </p:spPr>
        <p:txBody>
          <a:bodyPr wrap="square" lIns="0" tIns="0" rIns="0" bIns="0" rtlCol="0" anchor="ctr">
            <a:normAutofit/>
          </a:bodyPr>
          <a:lstStyle/>
          <a:p>
            <a:pPr indent="0" marL="0">
              <a:buNone/>
            </a:pPr>
            <a:r>
              <a:rPr lang="en-US" sz="1150" b="1" dirty="0">
                <a:solidFill>
                  <a:srgbClr val="161514"/>
                </a:solidFill>
                <a:latin typeface="Avenir Next" pitchFamily="34" charset="0"/>
                <a:ea typeface="Avenir Next" pitchFamily="34" charset="-122"/>
                <a:cs typeface="Avenir Next" pitchFamily="34" charset="-120"/>
              </a:rPr>
              <a:t>Winter 2026</a:t>
            </a:r>
            <a:endParaRPr lang="en-US" sz="1150" dirty="0"/>
          </a:p>
        </p:txBody>
      </p:sp>
      <p:sp>
        <p:nvSpPr>
          <p:cNvPr id="41" name="Text 39"/>
          <p:cNvSpPr/>
          <p:nvPr/>
        </p:nvSpPr>
        <p:spPr>
          <a:xfrm>
            <a:off x="9345168" y="4288536"/>
            <a:ext cx="1920240" cy="182880"/>
          </a:xfrm>
          <a:prstGeom prst="rect">
            <a:avLst/>
          </a:prstGeom>
          <a:noFill/>
          <a:ln/>
        </p:spPr>
        <p:txBody>
          <a:bodyPr wrap="square" lIns="0" tIns="0" rIns="0" bIns="0" rtlCol="0" anchor="ctr">
            <a:normAutofit/>
          </a:bodyPr>
          <a:lstStyle/>
          <a:p>
            <a:pPr algn="r" indent="0" marL="0">
              <a:buNone/>
            </a:pPr>
            <a:r>
              <a:rPr lang="en-US" sz="940" dirty="0">
                <a:solidFill>
                  <a:srgbClr val="6B6761"/>
                </a:solidFill>
                <a:latin typeface="Avenir Next" pitchFamily="34" charset="0"/>
                <a:ea typeface="Avenir Next" pitchFamily="34" charset="-122"/>
                <a:cs typeface="Avenir Next" pitchFamily="34" charset="-120"/>
              </a:rPr>
              <a:t>AY 2025-26</a:t>
            </a:r>
            <a:endParaRPr lang="en-US" sz="940" dirty="0"/>
          </a:p>
        </p:txBody>
      </p:sp>
      <p:sp>
        <p:nvSpPr>
          <p:cNvPr id="42" name="Shape 40"/>
          <p:cNvSpPr/>
          <p:nvPr/>
        </p:nvSpPr>
        <p:spPr>
          <a:xfrm>
            <a:off x="4645152" y="4727448"/>
            <a:ext cx="6812280" cy="0"/>
          </a:xfrm>
          <a:prstGeom prst="line">
            <a:avLst/>
          </a:prstGeom>
          <a:noFill/>
          <a:ln w="12700">
            <a:solidFill>
              <a:srgbClr val="D8D0C4"/>
            </a:solidFill>
            <a:prstDash val="solid"/>
          </a:ln>
        </p:spPr>
      </p:sp>
      <p:sp>
        <p:nvSpPr>
          <p:cNvPr id="43" name="Text 41"/>
          <p:cNvSpPr/>
          <p:nvPr/>
        </p:nvSpPr>
        <p:spPr>
          <a:xfrm>
            <a:off x="4645152" y="4892040"/>
            <a:ext cx="594360" cy="146304"/>
          </a:xfrm>
          <a:prstGeom prst="rect">
            <a:avLst/>
          </a:prstGeom>
          <a:noFill/>
          <a:ln/>
        </p:spPr>
        <p:txBody>
          <a:bodyPr wrap="square" lIns="0" tIns="0" rIns="0" bIns="0" rtlCol="0" anchor="ctr"/>
          <a:lstStyle/>
          <a:p>
            <a:pPr indent="0" marL="0">
              <a:buNone/>
            </a:pPr>
            <a:r>
              <a:rPr lang="en-US" sz="800" b="1" spc="80" kern="0" dirty="0">
                <a:solidFill>
                  <a:srgbClr val="8C1515"/>
                </a:solidFill>
                <a:latin typeface="Avenir Next" pitchFamily="34" charset="0"/>
                <a:ea typeface="Avenir Next" pitchFamily="34" charset="-122"/>
                <a:cs typeface="Avenir Next" pitchFamily="34" charset="-120"/>
              </a:rPr>
              <a:t>WHERE</a:t>
            </a:r>
            <a:endParaRPr lang="en-US" sz="800" dirty="0"/>
          </a:p>
        </p:txBody>
      </p:sp>
      <p:sp>
        <p:nvSpPr>
          <p:cNvPr id="44" name="Text 42"/>
          <p:cNvSpPr/>
          <p:nvPr/>
        </p:nvSpPr>
        <p:spPr>
          <a:xfrm>
            <a:off x="5486400" y="4828032"/>
            <a:ext cx="3474720" cy="219456"/>
          </a:xfrm>
          <a:prstGeom prst="rect">
            <a:avLst/>
          </a:prstGeom>
          <a:noFill/>
          <a:ln/>
        </p:spPr>
        <p:txBody>
          <a:bodyPr wrap="square" lIns="0" tIns="0" rIns="0" bIns="0" rtlCol="0" anchor="ctr">
            <a:normAutofit/>
          </a:bodyPr>
          <a:lstStyle/>
          <a:p>
            <a:pPr indent="0" marL="0">
              <a:buNone/>
            </a:pPr>
            <a:r>
              <a:rPr lang="en-US" sz="1150" b="1" dirty="0">
                <a:solidFill>
                  <a:srgbClr val="161514"/>
                </a:solidFill>
                <a:latin typeface="Avenir Next" pitchFamily="34" charset="0"/>
                <a:ea typeface="Avenir Next" pitchFamily="34" charset="-122"/>
                <a:cs typeface="Avenir Next" pitchFamily="34" charset="-120"/>
              </a:rPr>
              <a:t>75 mapped facilities</a:t>
            </a:r>
            <a:endParaRPr lang="en-US" sz="1150" dirty="0"/>
          </a:p>
        </p:txBody>
      </p:sp>
      <p:sp>
        <p:nvSpPr>
          <p:cNvPr id="45" name="Text 43"/>
          <p:cNvSpPr/>
          <p:nvPr/>
        </p:nvSpPr>
        <p:spPr>
          <a:xfrm>
            <a:off x="9345168" y="4846320"/>
            <a:ext cx="1920240" cy="182880"/>
          </a:xfrm>
          <a:prstGeom prst="rect">
            <a:avLst/>
          </a:prstGeom>
          <a:noFill/>
          <a:ln/>
        </p:spPr>
        <p:txBody>
          <a:bodyPr wrap="square" lIns="0" tIns="0" rIns="0" bIns="0" rtlCol="0" anchor="ctr">
            <a:normAutofit/>
          </a:bodyPr>
          <a:lstStyle/>
          <a:p>
            <a:pPr algn="r" indent="0" marL="0">
              <a:buNone/>
            </a:pPr>
            <a:r>
              <a:rPr lang="en-US" sz="940" dirty="0">
                <a:solidFill>
                  <a:srgbClr val="6B6761"/>
                </a:solidFill>
                <a:latin typeface="Avenir Next" pitchFamily="34" charset="0"/>
                <a:ea typeface="Avenir Next" pitchFamily="34" charset="-122"/>
                <a:cs typeface="Avenir Next" pitchFamily="34" charset="-120"/>
              </a:rPr>
              <a:t>Campus Map</a:t>
            </a:r>
            <a:endParaRPr lang="en-US" sz="940" dirty="0"/>
          </a:p>
        </p:txBody>
      </p:sp>
      <p:sp>
        <p:nvSpPr>
          <p:cNvPr id="46" name="Shape 44"/>
          <p:cNvSpPr/>
          <p:nvPr/>
        </p:nvSpPr>
        <p:spPr>
          <a:xfrm>
            <a:off x="4645152" y="5285232"/>
            <a:ext cx="6812280" cy="0"/>
          </a:xfrm>
          <a:prstGeom prst="line">
            <a:avLst/>
          </a:prstGeom>
          <a:noFill/>
          <a:ln w="12700">
            <a:solidFill>
              <a:srgbClr val="D8D0C4"/>
            </a:solidFill>
            <a:prstDash val="solid"/>
          </a:ln>
        </p:spPr>
      </p:sp>
      <p:sp>
        <p:nvSpPr>
          <p:cNvPr id="47" name="Text 45"/>
          <p:cNvSpPr/>
          <p:nvPr/>
        </p:nvSpPr>
        <p:spPr>
          <a:xfrm>
            <a:off x="4645152" y="5449824"/>
            <a:ext cx="594360" cy="146304"/>
          </a:xfrm>
          <a:prstGeom prst="rect">
            <a:avLst/>
          </a:prstGeom>
          <a:noFill/>
          <a:ln/>
        </p:spPr>
        <p:txBody>
          <a:bodyPr wrap="square" lIns="0" tIns="0" rIns="0" bIns="0" rtlCol="0" anchor="ctr"/>
          <a:lstStyle/>
          <a:p>
            <a:pPr indent="0" marL="0">
              <a:buNone/>
            </a:pPr>
            <a:r>
              <a:rPr lang="en-US" sz="800" b="1" spc="80" kern="0" dirty="0">
                <a:solidFill>
                  <a:srgbClr val="8C1515"/>
                </a:solidFill>
                <a:latin typeface="Avenir Next" pitchFamily="34" charset="0"/>
                <a:ea typeface="Avenir Next" pitchFamily="34" charset="-122"/>
                <a:cs typeface="Avenir Next" pitchFamily="34" charset="-120"/>
              </a:rPr>
              <a:t>WHY</a:t>
            </a:r>
            <a:endParaRPr lang="en-US" sz="800" dirty="0"/>
          </a:p>
        </p:txBody>
      </p:sp>
      <p:sp>
        <p:nvSpPr>
          <p:cNvPr id="48" name="Text 46"/>
          <p:cNvSpPr/>
          <p:nvPr/>
        </p:nvSpPr>
        <p:spPr>
          <a:xfrm>
            <a:off x="5486400" y="5385816"/>
            <a:ext cx="3474720" cy="219456"/>
          </a:xfrm>
          <a:prstGeom prst="rect">
            <a:avLst/>
          </a:prstGeom>
          <a:noFill/>
          <a:ln/>
        </p:spPr>
        <p:txBody>
          <a:bodyPr wrap="square" lIns="0" tIns="0" rIns="0" bIns="0" rtlCol="0" anchor="ctr">
            <a:normAutofit/>
          </a:bodyPr>
          <a:lstStyle/>
          <a:p>
            <a:pPr indent="0" marL="0">
              <a:buNone/>
            </a:pPr>
            <a:r>
              <a:rPr lang="en-US" sz="1150" b="1" dirty="0">
                <a:solidFill>
                  <a:srgbClr val="161514"/>
                </a:solidFill>
                <a:latin typeface="Avenir Next" pitchFamily="34" charset="0"/>
                <a:ea typeface="Avenir Next" pitchFamily="34" charset="-122"/>
                <a:cs typeface="Avenir Next" pitchFamily="34" charset="-120"/>
              </a:rPr>
              <a:t>Test the ten-minute geometry</a:t>
            </a:r>
            <a:endParaRPr lang="en-US" sz="1150" dirty="0"/>
          </a:p>
        </p:txBody>
      </p:sp>
      <p:sp>
        <p:nvSpPr>
          <p:cNvPr id="49" name="Text 47"/>
          <p:cNvSpPr/>
          <p:nvPr/>
        </p:nvSpPr>
        <p:spPr>
          <a:xfrm>
            <a:off x="9345168" y="5404104"/>
            <a:ext cx="1920240" cy="182880"/>
          </a:xfrm>
          <a:prstGeom prst="rect">
            <a:avLst/>
          </a:prstGeom>
          <a:noFill/>
          <a:ln/>
        </p:spPr>
        <p:txBody>
          <a:bodyPr wrap="square" lIns="0" tIns="0" rIns="0" bIns="0" rtlCol="0" anchor="ctr">
            <a:normAutofit/>
          </a:bodyPr>
          <a:lstStyle/>
          <a:p>
            <a:pPr algn="r" indent="0" marL="0">
              <a:buNone/>
            </a:pPr>
            <a:r>
              <a:rPr lang="en-US" sz="940" dirty="0">
                <a:solidFill>
                  <a:srgbClr val="6B6761"/>
                </a:solidFill>
                <a:latin typeface="Avenir Next" pitchFamily="34" charset="0"/>
                <a:ea typeface="Avenir Next" pitchFamily="34" charset="-122"/>
                <a:cs typeface="Avenir Next" pitchFamily="34" charset="-120"/>
              </a:rPr>
              <a:t>stated assumptions</a:t>
            </a:r>
            <a:endParaRPr lang="en-US" sz="940" dirty="0"/>
          </a:p>
        </p:txBody>
      </p:sp>
      <p:sp>
        <p:nvSpPr>
          <p:cNvPr id="50" name="Shape 48"/>
          <p:cNvSpPr/>
          <p:nvPr/>
        </p:nvSpPr>
        <p:spPr>
          <a:xfrm>
            <a:off x="4645152" y="5843016"/>
            <a:ext cx="6812280" cy="0"/>
          </a:xfrm>
          <a:prstGeom prst="line">
            <a:avLst/>
          </a:prstGeom>
          <a:noFill/>
          <a:ln w="12700">
            <a:solidFill>
              <a:srgbClr val="D8D0C4"/>
            </a:solidFill>
            <a:prstDash val="solid"/>
          </a:ln>
        </p:spPr>
      </p:sp>
      <p:sp>
        <p:nvSpPr>
          <p:cNvPr id="51" name="Text 49"/>
          <p:cNvSpPr/>
          <p:nvPr/>
        </p:nvSpPr>
        <p:spPr>
          <a:xfrm>
            <a:off x="4663440" y="5934456"/>
            <a:ext cx="6766560" cy="164592"/>
          </a:xfrm>
          <a:prstGeom prst="rect">
            <a:avLst/>
          </a:prstGeom>
          <a:noFill/>
          <a:ln/>
        </p:spPr>
        <p:txBody>
          <a:bodyPr wrap="square" lIns="0" tIns="0" rIns="0" bIns="0" rtlCol="0" anchor="ctr">
            <a:normAutofit/>
          </a:bodyPr>
          <a:lstStyle/>
          <a:p>
            <a:pPr algn="ctr" indent="0" marL="0">
              <a:buNone/>
            </a:pPr>
            <a:r>
              <a:rPr lang="en-US" sz="780" dirty="0">
                <a:solidFill>
                  <a:srgbClr val="6B6761"/>
                </a:solidFill>
                <a:latin typeface="Avenir Next" pitchFamily="34" charset="0"/>
                <a:ea typeface="Avenir Next" pitchFamily="34" charset="-122"/>
                <a:cs typeface="Avenir Next" pitchFamily="34" charset="-120"/>
              </a:rPr>
              <a:t>178 unresolved room rows excluded | cross-listings and repeated date blocks collapsed | 100% final route coverage</a:t>
            </a:r>
            <a:endParaRPr lang="en-US" sz="780" dirty="0"/>
          </a:p>
        </p:txBody>
      </p:sp>
      <p:sp>
        <p:nvSpPr>
          <p:cNvPr id="52" name="Shape 50"/>
          <p:cNvSpPr/>
          <p:nvPr/>
        </p:nvSpPr>
        <p:spPr>
          <a:xfrm>
            <a:off x="694944" y="6144768"/>
            <a:ext cx="10771632" cy="274320"/>
          </a:xfrm>
          <a:prstGeom prst="rect">
            <a:avLst/>
          </a:prstGeom>
          <a:solidFill>
            <a:srgbClr val="EAE3D8"/>
          </a:solidFill>
          <a:ln w="12700">
            <a:solidFill>
              <a:srgbClr val="EAE3D8"/>
            </a:solidFill>
            <a:prstDash val="solid"/>
          </a:ln>
        </p:spPr>
      </p:sp>
      <p:sp>
        <p:nvSpPr>
          <p:cNvPr id="53" name="Text 51"/>
          <p:cNvSpPr/>
          <p:nvPr/>
        </p:nvSpPr>
        <p:spPr>
          <a:xfrm>
            <a:off x="896112" y="6208776"/>
            <a:ext cx="10360152" cy="128016"/>
          </a:xfrm>
          <a:prstGeom prst="rect">
            <a:avLst/>
          </a:prstGeom>
          <a:noFill/>
          <a:ln/>
        </p:spPr>
        <p:txBody>
          <a:bodyPr wrap="square" lIns="0" tIns="0" rIns="0" bIns="0" rtlCol="0" anchor="ctr">
            <a:normAutofit/>
          </a:bodyPr>
          <a:lstStyle/>
          <a:p>
            <a:pPr algn="ctr" indent="0" marL="0">
              <a:buNone/>
            </a:pPr>
            <a:r>
              <a:rPr lang="en-US" sz="710" b="1" spc="35" kern="0" dirty="0">
                <a:solidFill>
                  <a:srgbClr val="161514"/>
                </a:solidFill>
                <a:latin typeface="Avenir Next" pitchFamily="34" charset="0"/>
                <a:ea typeface="Avenir Next" pitchFamily="34" charset="-122"/>
                <a:cs typeface="Avenir Next" pitchFamily="34" charset="-120"/>
              </a:rPr>
              <a:t>ADDITIONAL LENSES  |  WALK + BIKE SENSITIVITY  |  LECTURE/DISCUSSION TIMING  |  SUBJECT LOCATIONS  |  HIGH-ENROLLMENT SCREEN</a:t>
            </a:r>
            <a:endParaRPr lang="en-US" sz="710" dirty="0"/>
          </a:p>
        </p:txBody>
      </p:sp>
      <p:sp>
        <p:nvSpPr>
          <p:cNvPr id="54" name="Text 52">
            <a:hlinkClick r:id="rId1" tooltip=""/>
          </p:cNvPr>
          <p:cNvSpPr/>
          <p:nvPr/>
        </p:nvSpPr>
        <p:spPr>
          <a:xfrm>
            <a:off x="658368" y="6519672"/>
            <a:ext cx="10287000" cy="137160"/>
          </a:xfrm>
          <a:prstGeom prst="rect">
            <a:avLst/>
          </a:prstGeom>
          <a:noFill/>
          <a:ln/>
        </p:spPr>
        <p:txBody>
          <a:bodyPr wrap="square" lIns="0" tIns="0" rIns="0" bIns="0" rtlCol="0" anchor="ctr">
            <a:normAutofit/>
          </a:bodyPr>
          <a:lstStyle/>
          <a:p>
            <a:pPr indent="0" marL="0">
              <a:buNone/>
            </a:pPr>
            <a:r>
              <a:rPr lang="en-US" sz="730" u="sng" dirty="0">
                <a:solidFill>
                  <a:srgbClr val="6B6761"/>
                </a:solidFill>
                <a:latin typeface="Avenir Next" pitchFamily="34" charset="0"/>
                <a:ea typeface="Avenir Next" pitchFamily="34" charset="-122"/>
                <a:cs typeface="Avenir N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Method: eligibility, map matching, deduplication and route audit</a:t>
            </a:r>
            <a:endParaRPr lang="en-US" sz="7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58368" y="283464"/>
            <a:ext cx="4389120" cy="164592"/>
          </a:xfrm>
          <a:prstGeom prst="rect">
            <a:avLst/>
          </a:prstGeom>
          <a:noFill/>
          <a:ln/>
        </p:spPr>
        <p:txBody>
          <a:bodyPr wrap="square" lIns="0" tIns="0" rIns="0" bIns="0" rtlCol="0" anchor="ctr"/>
          <a:lstStyle/>
          <a:p>
            <a:pPr indent="0" marL="0">
              <a:buNone/>
            </a:pPr>
            <a:r>
              <a:rPr lang="en-US" sz="880" b="1" spc="140" kern="0" dirty="0">
                <a:solidFill>
                  <a:srgbClr val="8C1515"/>
                </a:solidFill>
                <a:latin typeface="Avenir Next" pitchFamily="34" charset="0"/>
                <a:ea typeface="Avenir Next" pitchFamily="34" charset="-122"/>
                <a:cs typeface="Avenir Next" pitchFamily="34" charset="-120"/>
              </a:rPr>
              <a:t>FINDING</a:t>
            </a:r>
            <a:endParaRPr lang="en-US" sz="880" dirty="0"/>
          </a:p>
        </p:txBody>
      </p:sp>
      <p:sp>
        <p:nvSpPr>
          <p:cNvPr id="3" name="Text 1"/>
          <p:cNvSpPr/>
          <p:nvPr/>
        </p:nvSpPr>
        <p:spPr>
          <a:xfrm>
            <a:off x="10927080" y="283464"/>
            <a:ext cx="603504" cy="164592"/>
          </a:xfrm>
          <a:prstGeom prst="rect">
            <a:avLst/>
          </a:prstGeom>
          <a:noFill/>
          <a:ln/>
        </p:spPr>
        <p:txBody>
          <a:bodyPr wrap="square" lIns="0" tIns="0" rIns="0" bIns="0" rtlCol="0" anchor="ctr"/>
          <a:lstStyle/>
          <a:p>
            <a:pPr algn="r" indent="0" marL="0">
              <a:buNone/>
            </a:pPr>
            <a:r>
              <a:rPr lang="en-US" sz="830" b="1" dirty="0">
                <a:solidFill>
                  <a:srgbClr val="6B6761"/>
                </a:solidFill>
                <a:latin typeface="Avenir Next" pitchFamily="34" charset="0"/>
                <a:ea typeface="Avenir Next" pitchFamily="34" charset="-122"/>
                <a:cs typeface="Avenir Next" pitchFamily="34" charset="-120"/>
              </a:rPr>
              <a:t>4 / 7</a:t>
            </a:r>
            <a:endParaRPr lang="en-US" sz="830" dirty="0"/>
          </a:p>
        </p:txBody>
      </p:sp>
      <p:sp>
        <p:nvSpPr>
          <p:cNvPr id="4" name="Shape 2"/>
          <p:cNvSpPr/>
          <p:nvPr/>
        </p:nvSpPr>
        <p:spPr>
          <a:xfrm>
            <a:off x="658368" y="603504"/>
            <a:ext cx="10872216" cy="0"/>
          </a:xfrm>
          <a:prstGeom prst="line">
            <a:avLst/>
          </a:prstGeom>
          <a:noFill/>
          <a:ln w="12700">
            <a:solidFill>
              <a:srgbClr val="D8D0C4"/>
            </a:solidFill>
            <a:prstDash val="solid"/>
          </a:ln>
        </p:spPr>
      </p:sp>
      <p:sp>
        <p:nvSpPr>
          <p:cNvPr id="5" name="Text 3"/>
          <p:cNvSpPr/>
          <p:nvPr/>
        </p:nvSpPr>
        <p:spPr>
          <a:xfrm>
            <a:off x="658368" y="786384"/>
            <a:ext cx="10872216" cy="548640"/>
          </a:xfrm>
          <a:prstGeom prst="rect">
            <a:avLst/>
          </a:prstGeom>
          <a:noFill/>
          <a:ln/>
        </p:spPr>
        <p:txBody>
          <a:bodyPr wrap="square" lIns="0" tIns="0" rIns="0" bIns="0" rtlCol="0" anchor="ctr">
            <a:normAutofit/>
          </a:bodyPr>
          <a:lstStyle/>
          <a:p>
            <a:pPr indent="0" marL="0">
              <a:buNone/>
            </a:pPr>
            <a:r>
              <a:rPr lang="en-US" sz="2900" b="1" dirty="0">
                <a:solidFill>
                  <a:srgbClr val="161514"/>
                </a:solidFill>
                <a:latin typeface="Georgia" pitchFamily="34" charset="0"/>
                <a:ea typeface="Georgia" pitchFamily="34" charset="-122"/>
                <a:cs typeface="Georgia" pitchFamily="34" charset="-120"/>
              </a:rPr>
              <a:t>Most walks fit. Time and travel mode change the answer.</a:t>
            </a:r>
            <a:endParaRPr lang="en-US" sz="2900" dirty="0"/>
          </a:p>
        </p:txBody>
      </p:sp>
      <p:sp>
        <p:nvSpPr>
          <p:cNvPr id="6" name="Text 4"/>
          <p:cNvSpPr/>
          <p:nvPr/>
        </p:nvSpPr>
        <p:spPr>
          <a:xfrm>
            <a:off x="676656" y="1344168"/>
            <a:ext cx="10744200" cy="256032"/>
          </a:xfrm>
          <a:prstGeom prst="rect">
            <a:avLst/>
          </a:prstGeom>
          <a:noFill/>
          <a:ln/>
        </p:spPr>
        <p:txBody>
          <a:bodyPr wrap="square" lIns="0" tIns="0" rIns="0" bIns="0" rtlCol="0" anchor="ctr">
            <a:normAutofit/>
          </a:bodyPr>
          <a:lstStyle/>
          <a:p>
            <a:pPr indent="0" marL="0">
              <a:buNone/>
            </a:pPr>
            <a:r>
              <a:rPr lang="en-US" sz="1150" dirty="0">
                <a:solidFill>
                  <a:srgbClr val="6B6761"/>
                </a:solidFill>
                <a:latin typeface="Avenir Next" pitchFamily="34" charset="0"/>
                <a:ea typeface="Avenir Next" pitchFamily="34" charset="-122"/>
                <a:cs typeface="Avenir Next" pitchFamily="34" charset="-120"/>
              </a:rPr>
              <a:t>283,079 possible Winter 2026 pairs; walking at 3 mph and bicycling at 8 mph.</a:t>
            </a:r>
            <a:endParaRPr lang="en-US" sz="1150" dirty="0"/>
          </a:p>
        </p:txBody>
      </p:sp>
      <p:sp>
        <p:nvSpPr>
          <p:cNvPr id="7" name="Text 5"/>
          <p:cNvSpPr/>
          <p:nvPr/>
        </p:nvSpPr>
        <p:spPr>
          <a:xfrm>
            <a:off x="694944" y="1901952"/>
            <a:ext cx="4297680" cy="804672"/>
          </a:xfrm>
          <a:prstGeom prst="rect">
            <a:avLst/>
          </a:prstGeom>
          <a:noFill/>
          <a:ln/>
        </p:spPr>
        <p:txBody>
          <a:bodyPr wrap="square" lIns="0" tIns="0" rIns="0" bIns="0" rtlCol="0" anchor="ctr"/>
          <a:lstStyle/>
          <a:p>
            <a:pPr indent="0" marL="0">
              <a:buNone/>
            </a:pPr>
            <a:r>
              <a:rPr lang="en-US" sz="5300" b="1" dirty="0">
                <a:solidFill>
                  <a:srgbClr val="8C1515"/>
                </a:solidFill>
                <a:latin typeface="Georgia" pitchFamily="34" charset="0"/>
                <a:ea typeface="Georgia" pitchFamily="34" charset="-122"/>
                <a:cs typeface="Georgia" pitchFamily="34" charset="-120"/>
              </a:rPr>
              <a:t>17.5%</a:t>
            </a:r>
            <a:endParaRPr lang="en-US" sz="5300" dirty="0"/>
          </a:p>
        </p:txBody>
      </p:sp>
      <p:sp>
        <p:nvSpPr>
          <p:cNvPr id="8" name="Text 6"/>
          <p:cNvSpPr/>
          <p:nvPr/>
        </p:nvSpPr>
        <p:spPr>
          <a:xfrm>
            <a:off x="731520" y="2779776"/>
            <a:ext cx="3474720" cy="182880"/>
          </a:xfrm>
          <a:prstGeom prst="rect">
            <a:avLst/>
          </a:prstGeom>
          <a:noFill/>
          <a:ln/>
        </p:spPr>
        <p:txBody>
          <a:bodyPr wrap="square" lIns="0" tIns="0" rIns="0" bIns="0" rtlCol="0" anchor="ctr"/>
          <a:lstStyle/>
          <a:p>
            <a:pPr indent="0" marL="0">
              <a:buNone/>
            </a:pPr>
            <a:r>
              <a:rPr lang="en-US" sz="900" b="1" spc="110" kern="0" dirty="0">
                <a:solidFill>
                  <a:srgbClr val="8C1515"/>
                </a:solidFill>
                <a:latin typeface="Avenir Next" pitchFamily="34" charset="0"/>
                <a:ea typeface="Avenir Next" pitchFamily="34" charset="-122"/>
                <a:cs typeface="Avenir Next" pitchFamily="34" charset="-120"/>
              </a:rPr>
              <a:t>ABOVE TEN ROUTE MINUTES</a:t>
            </a:r>
            <a:endParaRPr lang="en-US" sz="900" dirty="0"/>
          </a:p>
        </p:txBody>
      </p:sp>
      <p:sp>
        <p:nvSpPr>
          <p:cNvPr id="9" name="Text 7"/>
          <p:cNvSpPr/>
          <p:nvPr/>
        </p:nvSpPr>
        <p:spPr>
          <a:xfrm>
            <a:off x="731520" y="3127248"/>
            <a:ext cx="4069080" cy="256032"/>
          </a:xfrm>
          <a:prstGeom prst="rect">
            <a:avLst/>
          </a:prstGeom>
          <a:noFill/>
          <a:ln/>
        </p:spPr>
        <p:txBody>
          <a:bodyPr wrap="square" lIns="0" tIns="0" rIns="0" bIns="0" rtlCol="0" anchor="ctr"/>
          <a:lstStyle/>
          <a:p>
            <a:pPr indent="0" marL="0">
              <a:buNone/>
            </a:pPr>
            <a:r>
              <a:rPr lang="en-US" sz="1700" b="1" dirty="0">
                <a:solidFill>
                  <a:srgbClr val="161514"/>
                </a:solidFill>
                <a:latin typeface="Georgia" pitchFamily="34" charset="0"/>
                <a:ea typeface="Georgia" pitchFamily="34" charset="-122"/>
                <a:cs typeface="Georgia" pitchFamily="34" charset="-120"/>
              </a:rPr>
              <a:t>Approximately 1 in 6 possible transitions.</a:t>
            </a:r>
            <a:endParaRPr lang="en-US" sz="1700" dirty="0"/>
          </a:p>
        </p:txBody>
      </p:sp>
      <p:sp>
        <p:nvSpPr>
          <p:cNvPr id="10" name="Shape 8"/>
          <p:cNvSpPr/>
          <p:nvPr/>
        </p:nvSpPr>
        <p:spPr>
          <a:xfrm>
            <a:off x="713232" y="3712464"/>
            <a:ext cx="3977640" cy="0"/>
          </a:xfrm>
          <a:prstGeom prst="line">
            <a:avLst/>
          </a:prstGeom>
          <a:noFill/>
          <a:ln w="12700">
            <a:solidFill>
              <a:srgbClr val="D8D0C4"/>
            </a:solidFill>
            <a:prstDash val="solid"/>
          </a:ln>
        </p:spPr>
      </p:sp>
      <p:sp>
        <p:nvSpPr>
          <p:cNvPr id="11" name="Text 9"/>
          <p:cNvSpPr/>
          <p:nvPr/>
        </p:nvSpPr>
        <p:spPr>
          <a:xfrm>
            <a:off x="713232" y="4005072"/>
            <a:ext cx="1554480" cy="384048"/>
          </a:xfrm>
          <a:prstGeom prst="rect">
            <a:avLst/>
          </a:prstGeom>
          <a:noFill/>
          <a:ln/>
        </p:spPr>
        <p:txBody>
          <a:bodyPr wrap="square" lIns="0" tIns="0" rIns="0" bIns="0" rtlCol="0" anchor="ctr"/>
          <a:lstStyle/>
          <a:p>
            <a:pPr indent="0" marL="0">
              <a:buNone/>
            </a:pPr>
            <a:r>
              <a:rPr lang="en-US" sz="2400" b="1" dirty="0">
                <a:solidFill>
                  <a:srgbClr val="161514"/>
                </a:solidFill>
                <a:latin typeface="Georgia" pitchFamily="34" charset="0"/>
                <a:ea typeface="Georgia" pitchFamily="34" charset="-122"/>
                <a:cs typeface="Georgia" pitchFamily="34" charset="-120"/>
              </a:rPr>
              <a:t>6.2 min</a:t>
            </a:r>
            <a:endParaRPr lang="en-US" sz="2400" dirty="0"/>
          </a:p>
        </p:txBody>
      </p:sp>
      <p:sp>
        <p:nvSpPr>
          <p:cNvPr id="12" name="Text 10"/>
          <p:cNvSpPr/>
          <p:nvPr/>
        </p:nvSpPr>
        <p:spPr>
          <a:xfrm>
            <a:off x="731520" y="4453128"/>
            <a:ext cx="1280160" cy="164592"/>
          </a:xfrm>
          <a:prstGeom prst="rect">
            <a:avLst/>
          </a:prstGeom>
          <a:noFill/>
          <a:ln/>
        </p:spPr>
        <p:txBody>
          <a:bodyPr wrap="square" lIns="0" tIns="0" rIns="0" bIns="0" rtlCol="0" anchor="ctr"/>
          <a:lstStyle/>
          <a:p>
            <a:pPr indent="0" marL="0">
              <a:buNone/>
            </a:pPr>
            <a:r>
              <a:rPr lang="en-US" sz="950" dirty="0">
                <a:solidFill>
                  <a:srgbClr val="6B6761"/>
                </a:solidFill>
                <a:latin typeface="Avenir Next" pitchFamily="34" charset="0"/>
                <a:ea typeface="Avenir Next" pitchFamily="34" charset="-122"/>
                <a:cs typeface="Avenir Next" pitchFamily="34" charset="-120"/>
              </a:rPr>
              <a:t>median</a:t>
            </a:r>
            <a:endParaRPr lang="en-US" sz="950" dirty="0"/>
          </a:p>
        </p:txBody>
      </p:sp>
      <p:sp>
        <p:nvSpPr>
          <p:cNvPr id="13" name="Text 11"/>
          <p:cNvSpPr/>
          <p:nvPr/>
        </p:nvSpPr>
        <p:spPr>
          <a:xfrm>
            <a:off x="2560320" y="4005072"/>
            <a:ext cx="1737360" cy="384048"/>
          </a:xfrm>
          <a:prstGeom prst="rect">
            <a:avLst/>
          </a:prstGeom>
          <a:noFill/>
          <a:ln/>
        </p:spPr>
        <p:txBody>
          <a:bodyPr wrap="square" lIns="0" tIns="0" rIns="0" bIns="0" rtlCol="0" anchor="ctr"/>
          <a:lstStyle/>
          <a:p>
            <a:pPr indent="0" marL="0">
              <a:buNone/>
            </a:pPr>
            <a:r>
              <a:rPr lang="en-US" sz="2400" b="1" dirty="0">
                <a:solidFill>
                  <a:srgbClr val="8C1515"/>
                </a:solidFill>
                <a:latin typeface="Georgia" pitchFamily="34" charset="0"/>
                <a:ea typeface="Georgia" pitchFamily="34" charset="-122"/>
                <a:cs typeface="Georgia" pitchFamily="34" charset="-120"/>
              </a:rPr>
              <a:t>12.1 min</a:t>
            </a:r>
            <a:endParaRPr lang="en-US" sz="2400" dirty="0"/>
          </a:p>
        </p:txBody>
      </p:sp>
      <p:sp>
        <p:nvSpPr>
          <p:cNvPr id="14" name="Text 12"/>
          <p:cNvSpPr/>
          <p:nvPr/>
        </p:nvSpPr>
        <p:spPr>
          <a:xfrm>
            <a:off x="2578608" y="4453128"/>
            <a:ext cx="1554480" cy="164592"/>
          </a:xfrm>
          <a:prstGeom prst="rect">
            <a:avLst/>
          </a:prstGeom>
          <a:noFill/>
          <a:ln/>
        </p:spPr>
        <p:txBody>
          <a:bodyPr wrap="square" lIns="0" tIns="0" rIns="0" bIns="0" rtlCol="0" anchor="ctr"/>
          <a:lstStyle/>
          <a:p>
            <a:pPr indent="0" marL="0">
              <a:buNone/>
            </a:pPr>
            <a:r>
              <a:rPr lang="en-US" sz="950" dirty="0">
                <a:solidFill>
                  <a:srgbClr val="6B6761"/>
                </a:solidFill>
                <a:latin typeface="Avenir Next" pitchFamily="34" charset="0"/>
                <a:ea typeface="Avenir Next" pitchFamily="34" charset="-122"/>
                <a:cs typeface="Avenir Next" pitchFamily="34" charset="-120"/>
              </a:rPr>
              <a:t>90th percentile</a:t>
            </a:r>
            <a:endParaRPr lang="en-US" sz="950" dirty="0"/>
          </a:p>
        </p:txBody>
      </p:sp>
      <p:sp>
        <p:nvSpPr>
          <p:cNvPr id="15" name="Text 13"/>
          <p:cNvSpPr/>
          <p:nvPr/>
        </p:nvSpPr>
        <p:spPr>
          <a:xfrm>
            <a:off x="731520" y="5102352"/>
            <a:ext cx="3886200" cy="402336"/>
          </a:xfrm>
          <a:prstGeom prst="rect">
            <a:avLst/>
          </a:prstGeom>
          <a:noFill/>
          <a:ln/>
        </p:spPr>
        <p:txBody>
          <a:bodyPr wrap="square" lIns="0" tIns="0" rIns="0" bIns="0" rtlCol="0" anchor="ctr">
            <a:normAutofit/>
          </a:bodyPr>
          <a:lstStyle/>
          <a:p>
            <a:pPr indent="0" marL="0">
              <a:buNone/>
            </a:pPr>
            <a:r>
              <a:rPr lang="en-US" sz="1080" i="1" dirty="0">
                <a:solidFill>
                  <a:srgbClr val="6B6761"/>
                </a:solidFill>
                <a:latin typeface="Avenir Next" pitchFamily="34" charset="0"/>
                <a:ea typeface="Avenir Next" pitchFamily="34" charset="-122"/>
                <a:cs typeface="Avenir Next" pitchFamily="34" charset="-120"/>
              </a:rPr>
              <a:t>This is a distribution of possible pairs, not a lateness rate.</a:t>
            </a:r>
            <a:endParaRPr lang="en-US" sz="1080" dirty="0"/>
          </a:p>
        </p:txBody>
      </p:sp>
      <p:sp>
        <p:nvSpPr>
          <p:cNvPr id="16" name="Text 14"/>
          <p:cNvSpPr/>
          <p:nvPr/>
        </p:nvSpPr>
        <p:spPr>
          <a:xfrm>
            <a:off x="5596128" y="1865376"/>
            <a:ext cx="4297680" cy="155448"/>
          </a:xfrm>
          <a:prstGeom prst="rect">
            <a:avLst/>
          </a:prstGeom>
          <a:noFill/>
          <a:ln/>
        </p:spPr>
        <p:txBody>
          <a:bodyPr wrap="square" lIns="0" tIns="0" rIns="0" bIns="0" rtlCol="0" anchor="ctr">
            <a:normAutofit/>
          </a:bodyPr>
          <a:lstStyle/>
          <a:p>
            <a:pPr indent="0" marL="0">
              <a:buNone/>
            </a:pPr>
            <a:r>
              <a:rPr lang="en-US" sz="780" b="1" spc="55" kern="0" dirty="0">
                <a:solidFill>
                  <a:srgbClr val="161514"/>
                </a:solidFill>
                <a:latin typeface="Avenir Next" pitchFamily="34" charset="0"/>
                <a:ea typeface="Avenir Next" pitchFamily="34" charset="-122"/>
                <a:cs typeface="Avenir Next" pitchFamily="34" charset="-120"/>
              </a:rPr>
              <a:t>WALK  |  FULL 10-MINUTE PERIOD</a:t>
            </a:r>
            <a:endParaRPr lang="en-US" sz="780" dirty="0"/>
          </a:p>
        </p:txBody>
      </p:sp>
      <p:sp>
        <p:nvSpPr>
          <p:cNvPr id="17" name="Text 15"/>
          <p:cNvSpPr/>
          <p:nvPr/>
        </p:nvSpPr>
        <p:spPr>
          <a:xfrm>
            <a:off x="9966960" y="1847088"/>
            <a:ext cx="1207008" cy="201168"/>
          </a:xfrm>
          <a:prstGeom prst="rect">
            <a:avLst/>
          </a:prstGeom>
          <a:noFill/>
          <a:ln/>
        </p:spPr>
        <p:txBody>
          <a:bodyPr wrap="square" lIns="0" tIns="0" rIns="0" bIns="0" rtlCol="0" anchor="ctr"/>
          <a:lstStyle/>
          <a:p>
            <a:pPr algn="r" indent="0" marL="0">
              <a:buNone/>
            </a:pPr>
            <a:r>
              <a:rPr lang="en-US" sz="1400" b="1" dirty="0">
                <a:solidFill>
                  <a:srgbClr val="161514"/>
                </a:solidFill>
                <a:latin typeface="Georgia" pitchFamily="34" charset="0"/>
                <a:ea typeface="Georgia" pitchFamily="34" charset="-122"/>
                <a:cs typeface="Georgia" pitchFamily="34" charset="-120"/>
              </a:rPr>
              <a:t>82.5%</a:t>
            </a:r>
            <a:endParaRPr lang="en-US" sz="1400" dirty="0"/>
          </a:p>
        </p:txBody>
      </p:sp>
      <p:sp>
        <p:nvSpPr>
          <p:cNvPr id="18" name="Shape 16"/>
          <p:cNvSpPr/>
          <p:nvPr/>
        </p:nvSpPr>
        <p:spPr>
          <a:xfrm>
            <a:off x="5596128" y="2148840"/>
            <a:ext cx="5577840" cy="228600"/>
          </a:xfrm>
          <a:prstGeom prst="rect">
            <a:avLst/>
          </a:prstGeom>
          <a:solidFill>
            <a:srgbClr val="EAE3D8"/>
          </a:solidFill>
          <a:ln w="12700">
            <a:solidFill>
              <a:srgbClr val="EAE3D8"/>
            </a:solidFill>
            <a:prstDash val="solid"/>
          </a:ln>
        </p:spPr>
      </p:sp>
      <p:sp>
        <p:nvSpPr>
          <p:cNvPr id="19" name="Shape 17"/>
          <p:cNvSpPr/>
          <p:nvPr/>
        </p:nvSpPr>
        <p:spPr>
          <a:xfrm>
            <a:off x="5596128" y="2148840"/>
            <a:ext cx="4601718" cy="228600"/>
          </a:xfrm>
          <a:prstGeom prst="rect">
            <a:avLst/>
          </a:prstGeom>
          <a:solidFill>
            <a:srgbClr val="161514"/>
          </a:solidFill>
          <a:ln w="12700">
            <a:solidFill>
              <a:srgbClr val="161514"/>
            </a:solidFill>
            <a:prstDash val="solid"/>
          </a:ln>
        </p:spPr>
      </p:sp>
      <p:sp>
        <p:nvSpPr>
          <p:cNvPr id="20" name="Text 18"/>
          <p:cNvSpPr/>
          <p:nvPr/>
        </p:nvSpPr>
        <p:spPr>
          <a:xfrm>
            <a:off x="5596128" y="2798064"/>
            <a:ext cx="4297680" cy="155448"/>
          </a:xfrm>
          <a:prstGeom prst="rect">
            <a:avLst/>
          </a:prstGeom>
          <a:noFill/>
          <a:ln/>
        </p:spPr>
        <p:txBody>
          <a:bodyPr wrap="square" lIns="0" tIns="0" rIns="0" bIns="0" rtlCol="0" anchor="ctr">
            <a:normAutofit/>
          </a:bodyPr>
          <a:lstStyle/>
          <a:p>
            <a:pPr indent="0" marL="0">
              <a:buNone/>
            </a:pPr>
            <a:r>
              <a:rPr lang="en-US" sz="780" b="1" spc="55" kern="0" dirty="0">
                <a:solidFill>
                  <a:srgbClr val="161514"/>
                </a:solidFill>
                <a:latin typeface="Avenir Next" pitchFamily="34" charset="0"/>
                <a:ea typeface="Avenir Next" pitchFamily="34" charset="-122"/>
                <a:cs typeface="Avenir Next" pitchFamily="34" charset="-120"/>
              </a:rPr>
              <a:t>WALK  |  2 MINUTES FOR BUILDINGS</a:t>
            </a:r>
            <a:endParaRPr lang="en-US" sz="780" dirty="0"/>
          </a:p>
        </p:txBody>
      </p:sp>
      <p:sp>
        <p:nvSpPr>
          <p:cNvPr id="21" name="Text 19"/>
          <p:cNvSpPr/>
          <p:nvPr/>
        </p:nvSpPr>
        <p:spPr>
          <a:xfrm>
            <a:off x="9966960" y="2779776"/>
            <a:ext cx="1207008" cy="201168"/>
          </a:xfrm>
          <a:prstGeom prst="rect">
            <a:avLst/>
          </a:prstGeom>
          <a:noFill/>
          <a:ln/>
        </p:spPr>
        <p:txBody>
          <a:bodyPr wrap="square" lIns="0" tIns="0" rIns="0" bIns="0" rtlCol="0" anchor="ctr"/>
          <a:lstStyle/>
          <a:p>
            <a:pPr algn="r" indent="0" marL="0">
              <a:buNone/>
            </a:pPr>
            <a:r>
              <a:rPr lang="en-US" sz="1400" b="1" dirty="0">
                <a:solidFill>
                  <a:srgbClr val="8C1515"/>
                </a:solidFill>
                <a:latin typeface="Georgia" pitchFamily="34" charset="0"/>
                <a:ea typeface="Georgia" pitchFamily="34" charset="-122"/>
                <a:cs typeface="Georgia" pitchFamily="34" charset="-120"/>
              </a:rPr>
              <a:t>69.0%</a:t>
            </a:r>
            <a:endParaRPr lang="en-US" sz="1400" dirty="0"/>
          </a:p>
        </p:txBody>
      </p:sp>
      <p:sp>
        <p:nvSpPr>
          <p:cNvPr id="22" name="Shape 20"/>
          <p:cNvSpPr/>
          <p:nvPr/>
        </p:nvSpPr>
        <p:spPr>
          <a:xfrm>
            <a:off x="5596128" y="3081528"/>
            <a:ext cx="5577840" cy="228600"/>
          </a:xfrm>
          <a:prstGeom prst="rect">
            <a:avLst/>
          </a:prstGeom>
          <a:solidFill>
            <a:srgbClr val="EAE3D8"/>
          </a:solidFill>
          <a:ln w="12700">
            <a:solidFill>
              <a:srgbClr val="EAE3D8"/>
            </a:solidFill>
            <a:prstDash val="solid"/>
          </a:ln>
        </p:spPr>
      </p:sp>
      <p:sp>
        <p:nvSpPr>
          <p:cNvPr id="23" name="Shape 21"/>
          <p:cNvSpPr/>
          <p:nvPr/>
        </p:nvSpPr>
        <p:spPr>
          <a:xfrm>
            <a:off x="5596128" y="3081528"/>
            <a:ext cx="3848710" cy="228600"/>
          </a:xfrm>
          <a:prstGeom prst="rect">
            <a:avLst/>
          </a:prstGeom>
          <a:solidFill>
            <a:srgbClr val="8C1515"/>
          </a:solidFill>
          <a:ln w="12700">
            <a:solidFill>
              <a:srgbClr val="8C1515"/>
            </a:solidFill>
            <a:prstDash val="solid"/>
          </a:ln>
        </p:spPr>
      </p:sp>
      <p:sp>
        <p:nvSpPr>
          <p:cNvPr id="24" name="Text 22"/>
          <p:cNvSpPr/>
          <p:nvPr/>
        </p:nvSpPr>
        <p:spPr>
          <a:xfrm>
            <a:off x="5596128" y="3730752"/>
            <a:ext cx="4297680" cy="155448"/>
          </a:xfrm>
          <a:prstGeom prst="rect">
            <a:avLst/>
          </a:prstGeom>
          <a:noFill/>
          <a:ln/>
        </p:spPr>
        <p:txBody>
          <a:bodyPr wrap="square" lIns="0" tIns="0" rIns="0" bIns="0" rtlCol="0" anchor="ctr">
            <a:normAutofit/>
          </a:bodyPr>
          <a:lstStyle/>
          <a:p>
            <a:pPr indent="0" marL="0">
              <a:buNone/>
            </a:pPr>
            <a:r>
              <a:rPr lang="en-US" sz="780" b="1" spc="55" kern="0" dirty="0">
                <a:solidFill>
                  <a:srgbClr val="161514"/>
                </a:solidFill>
                <a:latin typeface="Avenir Next" pitchFamily="34" charset="0"/>
                <a:ea typeface="Avenir Next" pitchFamily="34" charset="-122"/>
                <a:cs typeface="Avenir Next" pitchFamily="34" charset="-120"/>
              </a:rPr>
              <a:t>WALK  |  15-MINUTE COUNTERFACTUAL</a:t>
            </a:r>
            <a:endParaRPr lang="en-US" sz="780" dirty="0"/>
          </a:p>
        </p:txBody>
      </p:sp>
      <p:sp>
        <p:nvSpPr>
          <p:cNvPr id="25" name="Text 23"/>
          <p:cNvSpPr/>
          <p:nvPr/>
        </p:nvSpPr>
        <p:spPr>
          <a:xfrm>
            <a:off x="9966960" y="3712464"/>
            <a:ext cx="1207008" cy="201168"/>
          </a:xfrm>
          <a:prstGeom prst="rect">
            <a:avLst/>
          </a:prstGeom>
          <a:noFill/>
          <a:ln/>
        </p:spPr>
        <p:txBody>
          <a:bodyPr wrap="square" lIns="0" tIns="0" rIns="0" bIns="0" rtlCol="0" anchor="ctr"/>
          <a:lstStyle/>
          <a:p>
            <a:pPr algn="r" indent="0" marL="0">
              <a:buNone/>
            </a:pPr>
            <a:r>
              <a:rPr lang="en-US" sz="1400" b="1" dirty="0">
                <a:solidFill>
                  <a:srgbClr val="C58D18"/>
                </a:solidFill>
                <a:latin typeface="Georgia" pitchFamily="34" charset="0"/>
                <a:ea typeface="Georgia" pitchFamily="34" charset="-122"/>
                <a:cs typeface="Georgia" pitchFamily="34" charset="-120"/>
              </a:rPr>
              <a:t>97.3%</a:t>
            </a:r>
            <a:endParaRPr lang="en-US" sz="1400" dirty="0"/>
          </a:p>
        </p:txBody>
      </p:sp>
      <p:sp>
        <p:nvSpPr>
          <p:cNvPr id="26" name="Shape 24"/>
          <p:cNvSpPr/>
          <p:nvPr/>
        </p:nvSpPr>
        <p:spPr>
          <a:xfrm>
            <a:off x="5596128" y="4014216"/>
            <a:ext cx="5577840" cy="228600"/>
          </a:xfrm>
          <a:prstGeom prst="rect">
            <a:avLst/>
          </a:prstGeom>
          <a:solidFill>
            <a:srgbClr val="EAE3D8"/>
          </a:solidFill>
          <a:ln w="12700">
            <a:solidFill>
              <a:srgbClr val="EAE3D8"/>
            </a:solidFill>
            <a:prstDash val="solid"/>
          </a:ln>
        </p:spPr>
      </p:sp>
      <p:sp>
        <p:nvSpPr>
          <p:cNvPr id="27" name="Shape 25"/>
          <p:cNvSpPr/>
          <p:nvPr/>
        </p:nvSpPr>
        <p:spPr>
          <a:xfrm>
            <a:off x="5596128" y="4014216"/>
            <a:ext cx="5427238" cy="228600"/>
          </a:xfrm>
          <a:prstGeom prst="rect">
            <a:avLst/>
          </a:prstGeom>
          <a:solidFill>
            <a:srgbClr val="C58D18"/>
          </a:solidFill>
          <a:ln w="12700">
            <a:solidFill>
              <a:srgbClr val="C58D18"/>
            </a:solidFill>
            <a:prstDash val="solid"/>
          </a:ln>
        </p:spPr>
      </p:sp>
      <p:sp>
        <p:nvSpPr>
          <p:cNvPr id="28" name="Text 26"/>
          <p:cNvSpPr/>
          <p:nvPr/>
        </p:nvSpPr>
        <p:spPr>
          <a:xfrm>
            <a:off x="5596128" y="4663440"/>
            <a:ext cx="4297680" cy="155448"/>
          </a:xfrm>
          <a:prstGeom prst="rect">
            <a:avLst/>
          </a:prstGeom>
          <a:noFill/>
          <a:ln/>
        </p:spPr>
        <p:txBody>
          <a:bodyPr wrap="square" lIns="0" tIns="0" rIns="0" bIns="0" rtlCol="0" anchor="ctr">
            <a:normAutofit/>
          </a:bodyPr>
          <a:lstStyle/>
          <a:p>
            <a:pPr indent="0" marL="0">
              <a:buNone/>
            </a:pPr>
            <a:r>
              <a:rPr lang="en-US" sz="780" b="1" spc="55" kern="0" dirty="0">
                <a:solidFill>
                  <a:srgbClr val="161514"/>
                </a:solidFill>
                <a:latin typeface="Avenir Next" pitchFamily="34" charset="0"/>
                <a:ea typeface="Avenir Next" pitchFamily="34" charset="-122"/>
                <a:cs typeface="Avenir Next" pitchFamily="34" charset="-120"/>
              </a:rPr>
              <a:t>BIKE  |  2 MINUTES FOR HANDLING</a:t>
            </a:r>
            <a:endParaRPr lang="en-US" sz="780" dirty="0"/>
          </a:p>
        </p:txBody>
      </p:sp>
      <p:sp>
        <p:nvSpPr>
          <p:cNvPr id="29" name="Text 27"/>
          <p:cNvSpPr/>
          <p:nvPr/>
        </p:nvSpPr>
        <p:spPr>
          <a:xfrm>
            <a:off x="9966960" y="4645152"/>
            <a:ext cx="1207008" cy="201168"/>
          </a:xfrm>
          <a:prstGeom prst="rect">
            <a:avLst/>
          </a:prstGeom>
          <a:noFill/>
          <a:ln/>
        </p:spPr>
        <p:txBody>
          <a:bodyPr wrap="square" lIns="0" tIns="0" rIns="0" bIns="0" rtlCol="0" anchor="ctr"/>
          <a:lstStyle/>
          <a:p>
            <a:pPr algn="r" indent="0" marL="0">
              <a:buNone/>
            </a:pPr>
            <a:r>
              <a:rPr lang="en-US" sz="1400" b="1" dirty="0">
                <a:solidFill>
                  <a:srgbClr val="087E8B"/>
                </a:solidFill>
                <a:latin typeface="Georgia" pitchFamily="34" charset="0"/>
                <a:ea typeface="Georgia" pitchFamily="34" charset="-122"/>
                <a:cs typeface="Georgia" pitchFamily="34" charset="-120"/>
              </a:rPr>
              <a:t>99.4%</a:t>
            </a:r>
            <a:endParaRPr lang="en-US" sz="1400" dirty="0"/>
          </a:p>
        </p:txBody>
      </p:sp>
      <p:sp>
        <p:nvSpPr>
          <p:cNvPr id="30" name="Shape 28"/>
          <p:cNvSpPr/>
          <p:nvPr/>
        </p:nvSpPr>
        <p:spPr>
          <a:xfrm>
            <a:off x="5596128" y="4946904"/>
            <a:ext cx="5577840" cy="228600"/>
          </a:xfrm>
          <a:prstGeom prst="rect">
            <a:avLst/>
          </a:prstGeom>
          <a:solidFill>
            <a:srgbClr val="EAE3D8"/>
          </a:solidFill>
          <a:ln w="12700">
            <a:solidFill>
              <a:srgbClr val="EAE3D8"/>
            </a:solidFill>
            <a:prstDash val="solid"/>
          </a:ln>
        </p:spPr>
      </p:sp>
      <p:sp>
        <p:nvSpPr>
          <p:cNvPr id="31" name="Shape 29"/>
          <p:cNvSpPr/>
          <p:nvPr/>
        </p:nvSpPr>
        <p:spPr>
          <a:xfrm>
            <a:off x="5596128" y="4946904"/>
            <a:ext cx="5544373" cy="228600"/>
          </a:xfrm>
          <a:prstGeom prst="rect">
            <a:avLst/>
          </a:prstGeom>
          <a:solidFill>
            <a:srgbClr val="087E8B"/>
          </a:solidFill>
          <a:ln w="12700">
            <a:solidFill>
              <a:srgbClr val="087E8B"/>
            </a:solidFill>
            <a:prstDash val="solid"/>
          </a:ln>
        </p:spPr>
      </p:sp>
      <p:sp>
        <p:nvSpPr>
          <p:cNvPr id="32" name="Shape 30"/>
          <p:cNvSpPr/>
          <p:nvPr/>
        </p:nvSpPr>
        <p:spPr>
          <a:xfrm>
            <a:off x="5596128" y="5660136"/>
            <a:ext cx="5577840" cy="0"/>
          </a:xfrm>
          <a:prstGeom prst="line">
            <a:avLst/>
          </a:prstGeom>
          <a:noFill/>
          <a:ln w="12700">
            <a:solidFill>
              <a:srgbClr val="D8D0C4"/>
            </a:solidFill>
            <a:prstDash val="solid"/>
          </a:ln>
        </p:spPr>
      </p:sp>
      <p:sp>
        <p:nvSpPr>
          <p:cNvPr id="33" name="Text 31"/>
          <p:cNvSpPr/>
          <p:nvPr/>
        </p:nvSpPr>
        <p:spPr>
          <a:xfrm>
            <a:off x="5596128" y="5861304"/>
            <a:ext cx="5532120" cy="320040"/>
          </a:xfrm>
          <a:prstGeom prst="rect">
            <a:avLst/>
          </a:prstGeom>
          <a:noFill/>
          <a:ln/>
        </p:spPr>
        <p:txBody>
          <a:bodyPr wrap="square" lIns="0" tIns="0" rIns="0" bIns="0" rtlCol="0" anchor="ctr">
            <a:normAutofit/>
          </a:bodyPr>
          <a:lstStyle/>
          <a:p>
            <a:pPr indent="0" marL="0">
              <a:buNone/>
            </a:pPr>
            <a:r>
              <a:rPr lang="en-US" sz="880" dirty="0">
                <a:solidFill>
                  <a:srgbClr val="6B6761"/>
                </a:solidFill>
                <a:latin typeface="Avenir Next" pitchFamily="34" charset="0"/>
                <a:ea typeface="Avenir Next" pitchFamily="34" charset="-122"/>
                <a:cs typeface="Avenir Next" pitchFamily="34" charset="-120"/>
              </a:rPr>
              <a:t>Bike at 8 mph; Stanford caps central Pedestrian Zone cycling at 10 mph. Parking and dismounting are excluded.</a:t>
            </a:r>
            <a:endParaRPr lang="en-US" sz="880" dirty="0"/>
          </a:p>
        </p:txBody>
      </p:sp>
      <p:sp>
        <p:nvSpPr>
          <p:cNvPr id="34" name="Text 32">
            <a:hlinkClick r:id="rId1" tooltip=""/>
          </p:cNvPr>
          <p:cNvSpPr/>
          <p:nvPr/>
        </p:nvSpPr>
        <p:spPr>
          <a:xfrm>
            <a:off x="658368" y="6519672"/>
            <a:ext cx="10287000" cy="137160"/>
          </a:xfrm>
          <a:prstGeom prst="rect">
            <a:avLst/>
          </a:prstGeom>
          <a:noFill/>
          <a:ln/>
        </p:spPr>
        <p:txBody>
          <a:bodyPr wrap="square" lIns="0" tIns="0" rIns="0" bIns="0" rtlCol="0" anchor="ctr">
            <a:normAutofit/>
          </a:bodyPr>
          <a:lstStyle/>
          <a:p>
            <a:pPr indent="0" marL="0">
              <a:buNone/>
            </a:pPr>
            <a:r>
              <a:rPr lang="en-US" sz="730" u="sng" dirty="0">
                <a:solidFill>
                  <a:srgbClr val="6B6761"/>
                </a:solidFill>
                <a:latin typeface="Avenir Next" pitchFamily="34" charset="0"/>
                <a:ea typeface="Avenir Next" pitchFamily="34" charset="-122"/>
                <a:cs typeface="Avenir N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Project calculations from the Winter 2026 schedule and saved OSM route network</a:t>
            </a:r>
            <a:endParaRPr lang="en-US" sz="7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58368" y="283464"/>
            <a:ext cx="4389120" cy="164592"/>
          </a:xfrm>
          <a:prstGeom prst="rect">
            <a:avLst/>
          </a:prstGeom>
          <a:noFill/>
          <a:ln/>
        </p:spPr>
        <p:txBody>
          <a:bodyPr wrap="square" lIns="0" tIns="0" rIns="0" bIns="0" rtlCol="0" anchor="ctr"/>
          <a:lstStyle/>
          <a:p>
            <a:pPr indent="0" marL="0">
              <a:buNone/>
            </a:pPr>
            <a:r>
              <a:rPr lang="en-US" sz="880" b="1" spc="140" kern="0" dirty="0">
                <a:solidFill>
                  <a:srgbClr val="8C1515"/>
                </a:solidFill>
                <a:latin typeface="Avenir Next" pitchFamily="34" charset="0"/>
                <a:ea typeface="Avenir Next" pitchFamily="34" charset="-122"/>
                <a:cs typeface="Avenir Next" pitchFamily="34" charset="-120"/>
              </a:rPr>
              <a:t>SOURCING</a:t>
            </a:r>
            <a:endParaRPr lang="en-US" sz="880" dirty="0"/>
          </a:p>
        </p:txBody>
      </p:sp>
      <p:sp>
        <p:nvSpPr>
          <p:cNvPr id="3" name="Text 1"/>
          <p:cNvSpPr/>
          <p:nvPr/>
        </p:nvSpPr>
        <p:spPr>
          <a:xfrm>
            <a:off x="10927080" y="283464"/>
            <a:ext cx="603504" cy="164592"/>
          </a:xfrm>
          <a:prstGeom prst="rect">
            <a:avLst/>
          </a:prstGeom>
          <a:noFill/>
          <a:ln/>
        </p:spPr>
        <p:txBody>
          <a:bodyPr wrap="square" lIns="0" tIns="0" rIns="0" bIns="0" rtlCol="0" anchor="ctr"/>
          <a:lstStyle/>
          <a:p>
            <a:pPr algn="r" indent="0" marL="0">
              <a:buNone/>
            </a:pPr>
            <a:r>
              <a:rPr lang="en-US" sz="830" b="1" dirty="0">
                <a:solidFill>
                  <a:srgbClr val="6B6761"/>
                </a:solidFill>
                <a:latin typeface="Avenir Next" pitchFamily="34" charset="0"/>
                <a:ea typeface="Avenir Next" pitchFamily="34" charset="-122"/>
                <a:cs typeface="Avenir Next" pitchFamily="34" charset="-120"/>
              </a:rPr>
              <a:t>5 / 7</a:t>
            </a:r>
            <a:endParaRPr lang="en-US" sz="830" dirty="0"/>
          </a:p>
        </p:txBody>
      </p:sp>
      <p:sp>
        <p:nvSpPr>
          <p:cNvPr id="4" name="Shape 2"/>
          <p:cNvSpPr/>
          <p:nvPr/>
        </p:nvSpPr>
        <p:spPr>
          <a:xfrm>
            <a:off x="658368" y="603504"/>
            <a:ext cx="10872216" cy="0"/>
          </a:xfrm>
          <a:prstGeom prst="line">
            <a:avLst/>
          </a:prstGeom>
          <a:noFill/>
          <a:ln w="12700">
            <a:solidFill>
              <a:srgbClr val="D8D0C4"/>
            </a:solidFill>
            <a:prstDash val="solid"/>
          </a:ln>
        </p:spPr>
      </p:sp>
      <p:sp>
        <p:nvSpPr>
          <p:cNvPr id="5" name="Text 3"/>
          <p:cNvSpPr/>
          <p:nvPr/>
        </p:nvSpPr>
        <p:spPr>
          <a:xfrm>
            <a:off x="658368" y="786384"/>
            <a:ext cx="10872216" cy="548640"/>
          </a:xfrm>
          <a:prstGeom prst="rect">
            <a:avLst/>
          </a:prstGeom>
          <a:noFill/>
          <a:ln/>
        </p:spPr>
        <p:txBody>
          <a:bodyPr wrap="square" lIns="0" tIns="0" rIns="0" bIns="0" rtlCol="0" anchor="ctr">
            <a:normAutofit/>
          </a:bodyPr>
          <a:lstStyle/>
          <a:p>
            <a:pPr indent="0" marL="0">
              <a:buNone/>
            </a:pPr>
            <a:r>
              <a:rPr lang="en-US" sz="2900" b="1" dirty="0">
                <a:solidFill>
                  <a:srgbClr val="161514"/>
                </a:solidFill>
                <a:latin typeface="Georgia" pitchFamily="34" charset="0"/>
                <a:ea typeface="Georgia" pitchFamily="34" charset="-122"/>
                <a:cs typeface="Georgia" pitchFamily="34" charset="-120"/>
              </a:rPr>
              <a:t>What 27 Stanford students added.</a:t>
            </a:r>
            <a:endParaRPr lang="en-US" sz="2900" dirty="0"/>
          </a:p>
        </p:txBody>
      </p:sp>
      <p:sp>
        <p:nvSpPr>
          <p:cNvPr id="6" name="Text 4"/>
          <p:cNvSpPr/>
          <p:nvPr/>
        </p:nvSpPr>
        <p:spPr>
          <a:xfrm>
            <a:off x="676656" y="1344168"/>
            <a:ext cx="10744200" cy="256032"/>
          </a:xfrm>
          <a:prstGeom prst="rect">
            <a:avLst/>
          </a:prstGeom>
          <a:noFill/>
          <a:ln/>
        </p:spPr>
        <p:txBody>
          <a:bodyPr wrap="square" lIns="0" tIns="0" rIns="0" bIns="0" rtlCol="0" anchor="ctr">
            <a:normAutofit/>
          </a:bodyPr>
          <a:lstStyle/>
          <a:p>
            <a:pPr indent="0" marL="0">
              <a:buNone/>
            </a:pPr>
            <a:r>
              <a:rPr lang="en-US" sz="1150" dirty="0">
                <a:solidFill>
                  <a:srgbClr val="6B6761"/>
                </a:solidFill>
                <a:latin typeface="Avenir Next" pitchFamily="34" charset="0"/>
                <a:ea typeface="Avenir Next" pitchFamily="34" charset="-122"/>
                <a:cs typeface="Avenir Next" pitchFamily="34" charset="-120"/>
              </a:rPr>
              <a:t>The model estimates route time. The survey describes what that time can displace.</a:t>
            </a:r>
            <a:endParaRPr lang="en-US" sz="1150" dirty="0"/>
          </a:p>
        </p:txBody>
      </p:sp>
      <p:sp>
        <p:nvSpPr>
          <p:cNvPr id="7" name="Text 5"/>
          <p:cNvSpPr/>
          <p:nvPr/>
        </p:nvSpPr>
        <p:spPr>
          <a:xfrm>
            <a:off x="694944" y="1828800"/>
            <a:ext cx="3154680" cy="658368"/>
          </a:xfrm>
          <a:prstGeom prst="rect">
            <a:avLst/>
          </a:prstGeom>
          <a:noFill/>
          <a:ln/>
        </p:spPr>
        <p:txBody>
          <a:bodyPr wrap="square" lIns="0" tIns="0" rIns="0" bIns="0" rtlCol="0" anchor="ctr"/>
          <a:lstStyle/>
          <a:p>
            <a:pPr indent="0" marL="0">
              <a:buNone/>
            </a:pPr>
            <a:r>
              <a:rPr lang="en-US" sz="4300" b="1" dirty="0">
                <a:solidFill>
                  <a:srgbClr val="8C1515"/>
                </a:solidFill>
                <a:latin typeface="Georgia" pitchFamily="34" charset="0"/>
                <a:ea typeface="Georgia" pitchFamily="34" charset="-122"/>
                <a:cs typeface="Georgia" pitchFamily="34" charset="-120"/>
              </a:rPr>
              <a:t>20 / 27</a:t>
            </a:r>
            <a:endParaRPr lang="en-US" sz="4300" dirty="0"/>
          </a:p>
        </p:txBody>
      </p:sp>
      <p:sp>
        <p:nvSpPr>
          <p:cNvPr id="8" name="Text 6"/>
          <p:cNvSpPr/>
          <p:nvPr/>
        </p:nvSpPr>
        <p:spPr>
          <a:xfrm>
            <a:off x="731520" y="2578608"/>
            <a:ext cx="4069080" cy="320040"/>
          </a:xfrm>
          <a:prstGeom prst="rect">
            <a:avLst/>
          </a:prstGeom>
          <a:noFill/>
          <a:ln/>
        </p:spPr>
        <p:txBody>
          <a:bodyPr wrap="square" lIns="0" tIns="0" rIns="0" bIns="0" rtlCol="0" anchor="ctr">
            <a:normAutofit/>
          </a:bodyPr>
          <a:lstStyle/>
          <a:p>
            <a:pPr indent="0" marL="0">
              <a:buNone/>
            </a:pPr>
            <a:r>
              <a:rPr lang="en-US" sz="1220" dirty="0">
                <a:solidFill>
                  <a:srgbClr val="6B6761"/>
                </a:solidFill>
                <a:latin typeface="Avenir Next" pitchFamily="34" charset="0"/>
                <a:ea typeface="Avenir Next" pitchFamily="34" charset="-122"/>
                <a:cs typeface="Avenir Next" pitchFamily="34" charset="-120"/>
              </a:rPr>
              <a:t>reported being late or having a close call</a:t>
            </a:r>
            <a:endParaRPr lang="en-US" sz="1220" dirty="0"/>
          </a:p>
        </p:txBody>
      </p:sp>
      <p:sp>
        <p:nvSpPr>
          <p:cNvPr id="9" name="Shape 7"/>
          <p:cNvSpPr/>
          <p:nvPr/>
        </p:nvSpPr>
        <p:spPr>
          <a:xfrm>
            <a:off x="731520" y="3182112"/>
            <a:ext cx="77724" cy="530352"/>
          </a:xfrm>
          <a:prstGeom prst="rect">
            <a:avLst/>
          </a:prstGeom>
          <a:solidFill>
            <a:srgbClr val="8C1515"/>
          </a:solidFill>
          <a:ln w="12700">
            <a:solidFill>
              <a:srgbClr val="8C1515"/>
            </a:solidFill>
            <a:prstDash val="solid"/>
          </a:ln>
        </p:spPr>
      </p:sp>
      <p:sp>
        <p:nvSpPr>
          <p:cNvPr id="10" name="Shape 8"/>
          <p:cNvSpPr/>
          <p:nvPr/>
        </p:nvSpPr>
        <p:spPr>
          <a:xfrm>
            <a:off x="882396" y="3182112"/>
            <a:ext cx="77724" cy="530352"/>
          </a:xfrm>
          <a:prstGeom prst="rect">
            <a:avLst/>
          </a:prstGeom>
          <a:solidFill>
            <a:srgbClr val="8C1515"/>
          </a:solidFill>
          <a:ln w="12700">
            <a:solidFill>
              <a:srgbClr val="8C1515"/>
            </a:solidFill>
            <a:prstDash val="solid"/>
          </a:ln>
        </p:spPr>
      </p:sp>
      <p:sp>
        <p:nvSpPr>
          <p:cNvPr id="11" name="Shape 9"/>
          <p:cNvSpPr/>
          <p:nvPr/>
        </p:nvSpPr>
        <p:spPr>
          <a:xfrm>
            <a:off x="1033272" y="3182112"/>
            <a:ext cx="77724" cy="530352"/>
          </a:xfrm>
          <a:prstGeom prst="rect">
            <a:avLst/>
          </a:prstGeom>
          <a:solidFill>
            <a:srgbClr val="8C1515"/>
          </a:solidFill>
          <a:ln w="12700">
            <a:solidFill>
              <a:srgbClr val="8C1515"/>
            </a:solidFill>
            <a:prstDash val="solid"/>
          </a:ln>
        </p:spPr>
      </p:sp>
      <p:sp>
        <p:nvSpPr>
          <p:cNvPr id="12" name="Shape 10"/>
          <p:cNvSpPr/>
          <p:nvPr/>
        </p:nvSpPr>
        <p:spPr>
          <a:xfrm>
            <a:off x="1184148" y="3182112"/>
            <a:ext cx="77724" cy="530352"/>
          </a:xfrm>
          <a:prstGeom prst="rect">
            <a:avLst/>
          </a:prstGeom>
          <a:solidFill>
            <a:srgbClr val="8C1515"/>
          </a:solidFill>
          <a:ln w="12700">
            <a:solidFill>
              <a:srgbClr val="8C1515"/>
            </a:solidFill>
            <a:prstDash val="solid"/>
          </a:ln>
        </p:spPr>
      </p:sp>
      <p:sp>
        <p:nvSpPr>
          <p:cNvPr id="13" name="Shape 11"/>
          <p:cNvSpPr/>
          <p:nvPr/>
        </p:nvSpPr>
        <p:spPr>
          <a:xfrm>
            <a:off x="1335024" y="3182112"/>
            <a:ext cx="77724" cy="530352"/>
          </a:xfrm>
          <a:prstGeom prst="rect">
            <a:avLst/>
          </a:prstGeom>
          <a:solidFill>
            <a:srgbClr val="8C1515"/>
          </a:solidFill>
          <a:ln w="12700">
            <a:solidFill>
              <a:srgbClr val="8C1515"/>
            </a:solidFill>
            <a:prstDash val="solid"/>
          </a:ln>
        </p:spPr>
      </p:sp>
      <p:sp>
        <p:nvSpPr>
          <p:cNvPr id="14" name="Shape 12"/>
          <p:cNvSpPr/>
          <p:nvPr/>
        </p:nvSpPr>
        <p:spPr>
          <a:xfrm>
            <a:off x="1485900" y="3182112"/>
            <a:ext cx="77724" cy="530352"/>
          </a:xfrm>
          <a:prstGeom prst="rect">
            <a:avLst/>
          </a:prstGeom>
          <a:solidFill>
            <a:srgbClr val="8C1515"/>
          </a:solidFill>
          <a:ln w="12700">
            <a:solidFill>
              <a:srgbClr val="8C1515"/>
            </a:solidFill>
            <a:prstDash val="solid"/>
          </a:ln>
        </p:spPr>
      </p:sp>
      <p:sp>
        <p:nvSpPr>
          <p:cNvPr id="15" name="Shape 13"/>
          <p:cNvSpPr/>
          <p:nvPr/>
        </p:nvSpPr>
        <p:spPr>
          <a:xfrm>
            <a:off x="1636776" y="3182112"/>
            <a:ext cx="77724" cy="530352"/>
          </a:xfrm>
          <a:prstGeom prst="rect">
            <a:avLst/>
          </a:prstGeom>
          <a:solidFill>
            <a:srgbClr val="8C1515"/>
          </a:solidFill>
          <a:ln w="12700">
            <a:solidFill>
              <a:srgbClr val="8C1515"/>
            </a:solidFill>
            <a:prstDash val="solid"/>
          </a:ln>
        </p:spPr>
      </p:sp>
      <p:sp>
        <p:nvSpPr>
          <p:cNvPr id="16" name="Shape 14"/>
          <p:cNvSpPr/>
          <p:nvPr/>
        </p:nvSpPr>
        <p:spPr>
          <a:xfrm>
            <a:off x="1787652" y="3182112"/>
            <a:ext cx="77724" cy="530352"/>
          </a:xfrm>
          <a:prstGeom prst="rect">
            <a:avLst/>
          </a:prstGeom>
          <a:solidFill>
            <a:srgbClr val="8C1515"/>
          </a:solidFill>
          <a:ln w="12700">
            <a:solidFill>
              <a:srgbClr val="8C1515"/>
            </a:solidFill>
            <a:prstDash val="solid"/>
          </a:ln>
        </p:spPr>
      </p:sp>
      <p:sp>
        <p:nvSpPr>
          <p:cNvPr id="17" name="Shape 15"/>
          <p:cNvSpPr/>
          <p:nvPr/>
        </p:nvSpPr>
        <p:spPr>
          <a:xfrm>
            <a:off x="1938528" y="3182112"/>
            <a:ext cx="77724" cy="530352"/>
          </a:xfrm>
          <a:prstGeom prst="rect">
            <a:avLst/>
          </a:prstGeom>
          <a:solidFill>
            <a:srgbClr val="8C1515"/>
          </a:solidFill>
          <a:ln w="12700">
            <a:solidFill>
              <a:srgbClr val="8C1515"/>
            </a:solidFill>
            <a:prstDash val="solid"/>
          </a:ln>
        </p:spPr>
      </p:sp>
      <p:sp>
        <p:nvSpPr>
          <p:cNvPr id="18" name="Shape 16"/>
          <p:cNvSpPr/>
          <p:nvPr/>
        </p:nvSpPr>
        <p:spPr>
          <a:xfrm>
            <a:off x="2089404" y="3182112"/>
            <a:ext cx="77724" cy="530352"/>
          </a:xfrm>
          <a:prstGeom prst="rect">
            <a:avLst/>
          </a:prstGeom>
          <a:solidFill>
            <a:srgbClr val="8C1515"/>
          </a:solidFill>
          <a:ln w="12700">
            <a:solidFill>
              <a:srgbClr val="8C1515"/>
            </a:solidFill>
            <a:prstDash val="solid"/>
          </a:ln>
        </p:spPr>
      </p:sp>
      <p:sp>
        <p:nvSpPr>
          <p:cNvPr id="19" name="Shape 17"/>
          <p:cNvSpPr/>
          <p:nvPr/>
        </p:nvSpPr>
        <p:spPr>
          <a:xfrm>
            <a:off x="2240280" y="3182112"/>
            <a:ext cx="77724" cy="530352"/>
          </a:xfrm>
          <a:prstGeom prst="rect">
            <a:avLst/>
          </a:prstGeom>
          <a:solidFill>
            <a:srgbClr val="8C1515"/>
          </a:solidFill>
          <a:ln w="12700">
            <a:solidFill>
              <a:srgbClr val="8C1515"/>
            </a:solidFill>
            <a:prstDash val="solid"/>
          </a:ln>
        </p:spPr>
      </p:sp>
      <p:sp>
        <p:nvSpPr>
          <p:cNvPr id="20" name="Shape 18"/>
          <p:cNvSpPr/>
          <p:nvPr/>
        </p:nvSpPr>
        <p:spPr>
          <a:xfrm>
            <a:off x="2391156" y="3182112"/>
            <a:ext cx="77724" cy="530352"/>
          </a:xfrm>
          <a:prstGeom prst="rect">
            <a:avLst/>
          </a:prstGeom>
          <a:solidFill>
            <a:srgbClr val="8C1515"/>
          </a:solidFill>
          <a:ln w="12700">
            <a:solidFill>
              <a:srgbClr val="8C1515"/>
            </a:solidFill>
            <a:prstDash val="solid"/>
          </a:ln>
        </p:spPr>
      </p:sp>
      <p:sp>
        <p:nvSpPr>
          <p:cNvPr id="21" name="Shape 19"/>
          <p:cNvSpPr/>
          <p:nvPr/>
        </p:nvSpPr>
        <p:spPr>
          <a:xfrm>
            <a:off x="2542032" y="3182112"/>
            <a:ext cx="77724" cy="530352"/>
          </a:xfrm>
          <a:prstGeom prst="rect">
            <a:avLst/>
          </a:prstGeom>
          <a:solidFill>
            <a:srgbClr val="8C1515"/>
          </a:solidFill>
          <a:ln w="12700">
            <a:solidFill>
              <a:srgbClr val="8C1515"/>
            </a:solidFill>
            <a:prstDash val="solid"/>
          </a:ln>
        </p:spPr>
      </p:sp>
      <p:sp>
        <p:nvSpPr>
          <p:cNvPr id="22" name="Shape 20"/>
          <p:cNvSpPr/>
          <p:nvPr/>
        </p:nvSpPr>
        <p:spPr>
          <a:xfrm>
            <a:off x="2692908" y="3182112"/>
            <a:ext cx="77724" cy="530352"/>
          </a:xfrm>
          <a:prstGeom prst="rect">
            <a:avLst/>
          </a:prstGeom>
          <a:solidFill>
            <a:srgbClr val="8C1515"/>
          </a:solidFill>
          <a:ln w="12700">
            <a:solidFill>
              <a:srgbClr val="8C1515"/>
            </a:solidFill>
            <a:prstDash val="solid"/>
          </a:ln>
        </p:spPr>
      </p:sp>
      <p:sp>
        <p:nvSpPr>
          <p:cNvPr id="23" name="Shape 21"/>
          <p:cNvSpPr/>
          <p:nvPr/>
        </p:nvSpPr>
        <p:spPr>
          <a:xfrm>
            <a:off x="2843784" y="3182112"/>
            <a:ext cx="77724" cy="530352"/>
          </a:xfrm>
          <a:prstGeom prst="rect">
            <a:avLst/>
          </a:prstGeom>
          <a:solidFill>
            <a:srgbClr val="C58D18"/>
          </a:solidFill>
          <a:ln w="12700">
            <a:solidFill>
              <a:srgbClr val="C58D18"/>
            </a:solidFill>
            <a:prstDash val="solid"/>
          </a:ln>
        </p:spPr>
      </p:sp>
      <p:sp>
        <p:nvSpPr>
          <p:cNvPr id="24" name="Shape 22"/>
          <p:cNvSpPr/>
          <p:nvPr/>
        </p:nvSpPr>
        <p:spPr>
          <a:xfrm>
            <a:off x="2994660" y="3182112"/>
            <a:ext cx="77724" cy="530352"/>
          </a:xfrm>
          <a:prstGeom prst="rect">
            <a:avLst/>
          </a:prstGeom>
          <a:solidFill>
            <a:srgbClr val="C58D18"/>
          </a:solidFill>
          <a:ln w="12700">
            <a:solidFill>
              <a:srgbClr val="C58D18"/>
            </a:solidFill>
            <a:prstDash val="solid"/>
          </a:ln>
        </p:spPr>
      </p:sp>
      <p:sp>
        <p:nvSpPr>
          <p:cNvPr id="25" name="Shape 23"/>
          <p:cNvSpPr/>
          <p:nvPr/>
        </p:nvSpPr>
        <p:spPr>
          <a:xfrm>
            <a:off x="3145536" y="3182112"/>
            <a:ext cx="77724" cy="530352"/>
          </a:xfrm>
          <a:prstGeom prst="rect">
            <a:avLst/>
          </a:prstGeom>
          <a:solidFill>
            <a:srgbClr val="C58D18"/>
          </a:solidFill>
          <a:ln w="12700">
            <a:solidFill>
              <a:srgbClr val="C58D18"/>
            </a:solidFill>
            <a:prstDash val="solid"/>
          </a:ln>
        </p:spPr>
      </p:sp>
      <p:sp>
        <p:nvSpPr>
          <p:cNvPr id="26" name="Shape 24"/>
          <p:cNvSpPr/>
          <p:nvPr/>
        </p:nvSpPr>
        <p:spPr>
          <a:xfrm>
            <a:off x="3296412" y="3182112"/>
            <a:ext cx="77724" cy="530352"/>
          </a:xfrm>
          <a:prstGeom prst="rect">
            <a:avLst/>
          </a:prstGeom>
          <a:solidFill>
            <a:srgbClr val="C58D18"/>
          </a:solidFill>
          <a:ln w="12700">
            <a:solidFill>
              <a:srgbClr val="C58D18"/>
            </a:solidFill>
            <a:prstDash val="solid"/>
          </a:ln>
        </p:spPr>
      </p:sp>
      <p:sp>
        <p:nvSpPr>
          <p:cNvPr id="27" name="Shape 25"/>
          <p:cNvSpPr/>
          <p:nvPr/>
        </p:nvSpPr>
        <p:spPr>
          <a:xfrm>
            <a:off x="3447288" y="3182112"/>
            <a:ext cx="77724" cy="530352"/>
          </a:xfrm>
          <a:prstGeom prst="rect">
            <a:avLst/>
          </a:prstGeom>
          <a:solidFill>
            <a:srgbClr val="C58D18"/>
          </a:solidFill>
          <a:ln w="12700">
            <a:solidFill>
              <a:srgbClr val="C58D18"/>
            </a:solidFill>
            <a:prstDash val="solid"/>
          </a:ln>
        </p:spPr>
      </p:sp>
      <p:sp>
        <p:nvSpPr>
          <p:cNvPr id="28" name="Shape 26"/>
          <p:cNvSpPr/>
          <p:nvPr/>
        </p:nvSpPr>
        <p:spPr>
          <a:xfrm>
            <a:off x="3598164" y="3182112"/>
            <a:ext cx="77724" cy="530352"/>
          </a:xfrm>
          <a:prstGeom prst="rect">
            <a:avLst/>
          </a:prstGeom>
          <a:solidFill>
            <a:srgbClr val="C58D18"/>
          </a:solidFill>
          <a:ln w="12700">
            <a:solidFill>
              <a:srgbClr val="C58D18"/>
            </a:solidFill>
            <a:prstDash val="solid"/>
          </a:ln>
        </p:spPr>
      </p:sp>
      <p:sp>
        <p:nvSpPr>
          <p:cNvPr id="29" name="Shape 27"/>
          <p:cNvSpPr/>
          <p:nvPr/>
        </p:nvSpPr>
        <p:spPr>
          <a:xfrm>
            <a:off x="3749040" y="3182112"/>
            <a:ext cx="77724" cy="530352"/>
          </a:xfrm>
          <a:prstGeom prst="rect">
            <a:avLst/>
          </a:prstGeom>
          <a:solidFill>
            <a:srgbClr val="B8B1A7"/>
          </a:solidFill>
          <a:ln w="12700">
            <a:solidFill>
              <a:srgbClr val="B8B1A7"/>
            </a:solidFill>
            <a:prstDash val="solid"/>
          </a:ln>
        </p:spPr>
      </p:sp>
      <p:sp>
        <p:nvSpPr>
          <p:cNvPr id="30" name="Shape 28"/>
          <p:cNvSpPr/>
          <p:nvPr/>
        </p:nvSpPr>
        <p:spPr>
          <a:xfrm>
            <a:off x="3899916" y="3182112"/>
            <a:ext cx="77724" cy="530352"/>
          </a:xfrm>
          <a:prstGeom prst="rect">
            <a:avLst/>
          </a:prstGeom>
          <a:solidFill>
            <a:srgbClr val="B8B1A7"/>
          </a:solidFill>
          <a:ln w="12700">
            <a:solidFill>
              <a:srgbClr val="B8B1A7"/>
            </a:solidFill>
            <a:prstDash val="solid"/>
          </a:ln>
        </p:spPr>
      </p:sp>
      <p:sp>
        <p:nvSpPr>
          <p:cNvPr id="31" name="Shape 29"/>
          <p:cNvSpPr/>
          <p:nvPr/>
        </p:nvSpPr>
        <p:spPr>
          <a:xfrm>
            <a:off x="4050792" y="3182112"/>
            <a:ext cx="77724" cy="530352"/>
          </a:xfrm>
          <a:prstGeom prst="rect">
            <a:avLst/>
          </a:prstGeom>
          <a:solidFill>
            <a:srgbClr val="B8B1A7"/>
          </a:solidFill>
          <a:ln w="12700">
            <a:solidFill>
              <a:srgbClr val="B8B1A7"/>
            </a:solidFill>
            <a:prstDash val="solid"/>
          </a:ln>
        </p:spPr>
      </p:sp>
      <p:sp>
        <p:nvSpPr>
          <p:cNvPr id="32" name="Shape 30"/>
          <p:cNvSpPr/>
          <p:nvPr/>
        </p:nvSpPr>
        <p:spPr>
          <a:xfrm>
            <a:off x="4201668" y="3182112"/>
            <a:ext cx="77724" cy="530352"/>
          </a:xfrm>
          <a:prstGeom prst="rect">
            <a:avLst/>
          </a:prstGeom>
          <a:solidFill>
            <a:srgbClr val="B8B1A7"/>
          </a:solidFill>
          <a:ln w="12700">
            <a:solidFill>
              <a:srgbClr val="B8B1A7"/>
            </a:solidFill>
            <a:prstDash val="solid"/>
          </a:ln>
        </p:spPr>
      </p:sp>
      <p:sp>
        <p:nvSpPr>
          <p:cNvPr id="33" name="Shape 31"/>
          <p:cNvSpPr/>
          <p:nvPr/>
        </p:nvSpPr>
        <p:spPr>
          <a:xfrm>
            <a:off x="4352544" y="3182112"/>
            <a:ext cx="77724" cy="530352"/>
          </a:xfrm>
          <a:prstGeom prst="rect">
            <a:avLst/>
          </a:prstGeom>
          <a:solidFill>
            <a:srgbClr val="B8B1A7"/>
          </a:solidFill>
          <a:ln w="12700">
            <a:solidFill>
              <a:srgbClr val="B8B1A7"/>
            </a:solidFill>
            <a:prstDash val="solid"/>
          </a:ln>
        </p:spPr>
      </p:sp>
      <p:sp>
        <p:nvSpPr>
          <p:cNvPr id="34" name="Shape 32"/>
          <p:cNvSpPr/>
          <p:nvPr/>
        </p:nvSpPr>
        <p:spPr>
          <a:xfrm>
            <a:off x="4503420" y="3182112"/>
            <a:ext cx="77724" cy="530352"/>
          </a:xfrm>
          <a:prstGeom prst="rect">
            <a:avLst/>
          </a:prstGeom>
          <a:solidFill>
            <a:srgbClr val="B8B1A7"/>
          </a:solidFill>
          <a:ln w="12700">
            <a:solidFill>
              <a:srgbClr val="B8B1A7"/>
            </a:solidFill>
            <a:prstDash val="solid"/>
          </a:ln>
        </p:spPr>
      </p:sp>
      <p:sp>
        <p:nvSpPr>
          <p:cNvPr id="35" name="Shape 33"/>
          <p:cNvSpPr/>
          <p:nvPr/>
        </p:nvSpPr>
        <p:spPr>
          <a:xfrm>
            <a:off x="4654296" y="3182112"/>
            <a:ext cx="77724" cy="530352"/>
          </a:xfrm>
          <a:prstGeom prst="rect">
            <a:avLst/>
          </a:prstGeom>
          <a:solidFill>
            <a:srgbClr val="B8B1A7"/>
          </a:solidFill>
          <a:ln w="12700">
            <a:solidFill>
              <a:srgbClr val="B8B1A7"/>
            </a:solidFill>
            <a:prstDash val="solid"/>
          </a:ln>
        </p:spPr>
      </p:sp>
      <p:sp>
        <p:nvSpPr>
          <p:cNvPr id="36" name="Text 34"/>
          <p:cNvSpPr/>
          <p:nvPr/>
        </p:nvSpPr>
        <p:spPr>
          <a:xfrm>
            <a:off x="731520" y="3840480"/>
            <a:ext cx="822960" cy="155448"/>
          </a:xfrm>
          <a:prstGeom prst="rect">
            <a:avLst/>
          </a:prstGeom>
          <a:noFill/>
          <a:ln/>
        </p:spPr>
        <p:txBody>
          <a:bodyPr wrap="square" lIns="0" tIns="0" rIns="0" bIns="0" rtlCol="0" anchor="ctr"/>
          <a:lstStyle/>
          <a:p>
            <a:pPr indent="0" marL="0">
              <a:buNone/>
            </a:pPr>
            <a:r>
              <a:rPr lang="en-US" sz="840" b="1" dirty="0">
                <a:solidFill>
                  <a:srgbClr val="8C1515"/>
                </a:solidFill>
                <a:latin typeface="Avenir Next" pitchFamily="34" charset="0"/>
                <a:ea typeface="Avenir Next" pitchFamily="34" charset="-122"/>
                <a:cs typeface="Avenir Next" pitchFamily="34" charset="-120"/>
              </a:rPr>
              <a:t>14 late</a:t>
            </a:r>
            <a:endParaRPr lang="en-US" sz="840" dirty="0"/>
          </a:p>
        </p:txBody>
      </p:sp>
      <p:sp>
        <p:nvSpPr>
          <p:cNvPr id="37" name="Text 35"/>
          <p:cNvSpPr/>
          <p:nvPr/>
        </p:nvSpPr>
        <p:spPr>
          <a:xfrm>
            <a:off x="2057400" y="3840480"/>
            <a:ext cx="822960" cy="155448"/>
          </a:xfrm>
          <a:prstGeom prst="rect">
            <a:avLst/>
          </a:prstGeom>
          <a:noFill/>
          <a:ln/>
        </p:spPr>
        <p:txBody>
          <a:bodyPr wrap="square" lIns="0" tIns="0" rIns="0" bIns="0" rtlCol="0" anchor="ctr"/>
          <a:lstStyle/>
          <a:p>
            <a:pPr indent="0" marL="0">
              <a:buNone/>
            </a:pPr>
            <a:r>
              <a:rPr lang="en-US" sz="840" b="1" dirty="0">
                <a:solidFill>
                  <a:srgbClr val="C58D18"/>
                </a:solidFill>
                <a:latin typeface="Avenir Next" pitchFamily="34" charset="0"/>
                <a:ea typeface="Avenir Next" pitchFamily="34" charset="-122"/>
                <a:cs typeface="Avenir Next" pitchFamily="34" charset="-120"/>
              </a:rPr>
              <a:t>6 close</a:t>
            </a:r>
            <a:endParaRPr lang="en-US" sz="840" dirty="0"/>
          </a:p>
        </p:txBody>
      </p:sp>
      <p:sp>
        <p:nvSpPr>
          <p:cNvPr id="38" name="Text 36"/>
          <p:cNvSpPr/>
          <p:nvPr/>
        </p:nvSpPr>
        <p:spPr>
          <a:xfrm>
            <a:off x="3337560" y="3840480"/>
            <a:ext cx="822960" cy="155448"/>
          </a:xfrm>
          <a:prstGeom prst="rect">
            <a:avLst/>
          </a:prstGeom>
          <a:noFill/>
          <a:ln/>
        </p:spPr>
        <p:txBody>
          <a:bodyPr wrap="square" lIns="0" tIns="0" rIns="0" bIns="0" rtlCol="0" anchor="ctr"/>
          <a:lstStyle/>
          <a:p>
            <a:pPr indent="0" marL="0">
              <a:buNone/>
            </a:pPr>
            <a:r>
              <a:rPr lang="en-US" sz="840" b="1" dirty="0">
                <a:solidFill>
                  <a:srgbClr val="6B6761"/>
                </a:solidFill>
                <a:latin typeface="Avenir Next" pitchFamily="34" charset="0"/>
                <a:ea typeface="Avenir Next" pitchFamily="34" charset="-122"/>
                <a:cs typeface="Avenir Next" pitchFamily="34" charset="-120"/>
              </a:rPr>
              <a:t>7 never</a:t>
            </a:r>
            <a:endParaRPr lang="en-US" sz="840" dirty="0"/>
          </a:p>
        </p:txBody>
      </p:sp>
      <p:sp>
        <p:nvSpPr>
          <p:cNvPr id="39" name="Shape 37"/>
          <p:cNvSpPr/>
          <p:nvPr/>
        </p:nvSpPr>
        <p:spPr>
          <a:xfrm>
            <a:off x="5074920" y="1847088"/>
            <a:ext cx="0" cy="0"/>
          </a:xfrm>
          <a:prstGeom prst="line">
            <a:avLst/>
          </a:prstGeom>
          <a:noFill/>
          <a:ln w="12700">
            <a:solidFill>
              <a:srgbClr val="D8D0C4"/>
            </a:solidFill>
            <a:prstDash val="solid"/>
          </a:ln>
        </p:spPr>
      </p:sp>
      <p:sp>
        <p:nvSpPr>
          <p:cNvPr id="40" name="Text 38"/>
          <p:cNvSpPr/>
          <p:nvPr/>
        </p:nvSpPr>
        <p:spPr>
          <a:xfrm>
            <a:off x="5577840" y="1828800"/>
            <a:ext cx="2377440" cy="658368"/>
          </a:xfrm>
          <a:prstGeom prst="rect">
            <a:avLst/>
          </a:prstGeom>
          <a:noFill/>
          <a:ln/>
        </p:spPr>
        <p:txBody>
          <a:bodyPr wrap="square" lIns="0" tIns="0" rIns="0" bIns="0" rtlCol="0" anchor="ctr"/>
          <a:lstStyle/>
          <a:p>
            <a:pPr indent="0" marL="0">
              <a:buNone/>
            </a:pPr>
            <a:r>
              <a:rPr lang="en-US" sz="4300" b="1" dirty="0">
                <a:solidFill>
                  <a:srgbClr val="161514"/>
                </a:solidFill>
                <a:latin typeface="Georgia" pitchFamily="34" charset="0"/>
                <a:ea typeface="Georgia" pitchFamily="34" charset="-122"/>
                <a:cs typeface="Georgia" pitchFamily="34" charset="-120"/>
              </a:rPr>
              <a:t>11 / 23</a:t>
            </a:r>
            <a:endParaRPr lang="en-US" sz="4300" dirty="0"/>
          </a:p>
        </p:txBody>
      </p:sp>
      <p:sp>
        <p:nvSpPr>
          <p:cNvPr id="41" name="Text 39"/>
          <p:cNvSpPr/>
          <p:nvPr/>
        </p:nvSpPr>
        <p:spPr>
          <a:xfrm>
            <a:off x="5614416" y="2578608"/>
            <a:ext cx="4480560" cy="320040"/>
          </a:xfrm>
          <a:prstGeom prst="rect">
            <a:avLst/>
          </a:prstGeom>
          <a:noFill/>
          <a:ln/>
        </p:spPr>
        <p:txBody>
          <a:bodyPr wrap="square" lIns="0" tIns="0" rIns="0" bIns="0" rtlCol="0" anchor="ctr">
            <a:normAutofit/>
          </a:bodyPr>
          <a:lstStyle/>
          <a:p>
            <a:pPr indent="0" marL="0">
              <a:buNone/>
            </a:pPr>
            <a:r>
              <a:rPr lang="en-US" sz="1220" dirty="0">
                <a:solidFill>
                  <a:srgbClr val="6B6761"/>
                </a:solidFill>
                <a:latin typeface="Avenir Next" pitchFamily="34" charset="0"/>
                <a:ea typeface="Avenir Next" pitchFamily="34" charset="-122"/>
                <a:cs typeface="Avenir Next" pitchFamily="34" charset="-120"/>
              </a:rPr>
              <a:t>expanded respondents named a consequence beyond arrival</a:t>
            </a:r>
            <a:endParaRPr lang="en-US" sz="1220" dirty="0"/>
          </a:p>
        </p:txBody>
      </p:sp>
      <p:sp>
        <p:nvSpPr>
          <p:cNvPr id="42" name="Text 40"/>
          <p:cNvSpPr/>
          <p:nvPr/>
        </p:nvSpPr>
        <p:spPr>
          <a:xfrm>
            <a:off x="5596128" y="3163824"/>
            <a:ext cx="502920" cy="274320"/>
          </a:xfrm>
          <a:prstGeom prst="rect">
            <a:avLst/>
          </a:prstGeom>
          <a:noFill/>
          <a:ln/>
        </p:spPr>
        <p:txBody>
          <a:bodyPr wrap="square" lIns="0" tIns="0" rIns="0" bIns="0" rtlCol="0" anchor="ctr"/>
          <a:lstStyle/>
          <a:p>
            <a:pPr algn="ctr" indent="0" marL="0">
              <a:buNone/>
            </a:pPr>
            <a:r>
              <a:rPr lang="en-US" sz="2000" b="1" dirty="0">
                <a:solidFill>
                  <a:srgbClr val="8C1515"/>
                </a:solidFill>
                <a:latin typeface="Georgia" pitchFamily="34" charset="0"/>
                <a:ea typeface="Georgia" pitchFamily="34" charset="-122"/>
                <a:cs typeface="Georgia" pitchFamily="34" charset="-120"/>
              </a:rPr>
              <a:t>6</a:t>
            </a:r>
            <a:endParaRPr lang="en-US" sz="2000" dirty="0"/>
          </a:p>
        </p:txBody>
      </p:sp>
      <p:sp>
        <p:nvSpPr>
          <p:cNvPr id="43" name="Text 41"/>
          <p:cNvSpPr/>
          <p:nvPr/>
        </p:nvSpPr>
        <p:spPr>
          <a:xfrm>
            <a:off x="6327648" y="3200400"/>
            <a:ext cx="4498848" cy="219456"/>
          </a:xfrm>
          <a:prstGeom prst="rect">
            <a:avLst/>
          </a:prstGeom>
          <a:noFill/>
          <a:ln/>
        </p:spPr>
        <p:txBody>
          <a:bodyPr wrap="square" lIns="0" tIns="0" rIns="0" bIns="0" rtlCol="0" anchor="ctr">
            <a:normAutofit/>
          </a:bodyPr>
          <a:lstStyle/>
          <a:p>
            <a:pPr indent="0" marL="0">
              <a:buNone/>
            </a:pPr>
            <a:r>
              <a:rPr lang="en-US" sz="1100" dirty="0">
                <a:solidFill>
                  <a:srgbClr val="161514"/>
                </a:solidFill>
                <a:latin typeface="Avenir Next" pitchFamily="34" charset="0"/>
                <a:ea typeface="Avenir Next" pitchFamily="34" charset="-122"/>
                <a:cs typeface="Avenir Next" pitchFamily="34" charset="-120"/>
              </a:rPr>
              <a:t>missed class content or an announcement</a:t>
            </a:r>
            <a:endParaRPr lang="en-US" sz="1100" dirty="0"/>
          </a:p>
        </p:txBody>
      </p:sp>
      <p:sp>
        <p:nvSpPr>
          <p:cNvPr id="44" name="Text 42"/>
          <p:cNvSpPr/>
          <p:nvPr/>
        </p:nvSpPr>
        <p:spPr>
          <a:xfrm>
            <a:off x="5596128" y="3739896"/>
            <a:ext cx="502920" cy="274320"/>
          </a:xfrm>
          <a:prstGeom prst="rect">
            <a:avLst/>
          </a:prstGeom>
          <a:noFill/>
          <a:ln/>
        </p:spPr>
        <p:txBody>
          <a:bodyPr wrap="square" lIns="0" tIns="0" rIns="0" bIns="0" rtlCol="0" anchor="ctr"/>
          <a:lstStyle/>
          <a:p>
            <a:pPr algn="ctr" indent="0" marL="0">
              <a:buNone/>
            </a:pPr>
            <a:r>
              <a:rPr lang="en-US" sz="2000" b="1" dirty="0">
                <a:solidFill>
                  <a:srgbClr val="8C1515"/>
                </a:solidFill>
                <a:latin typeface="Georgia" pitchFamily="34" charset="0"/>
                <a:ea typeface="Georgia" pitchFamily="34" charset="-122"/>
                <a:cs typeface="Georgia" pitchFamily="34" charset="-120"/>
              </a:rPr>
              <a:t>2</a:t>
            </a:r>
            <a:endParaRPr lang="en-US" sz="2000" dirty="0"/>
          </a:p>
        </p:txBody>
      </p:sp>
      <p:sp>
        <p:nvSpPr>
          <p:cNvPr id="45" name="Text 43"/>
          <p:cNvSpPr/>
          <p:nvPr/>
        </p:nvSpPr>
        <p:spPr>
          <a:xfrm>
            <a:off x="6327648" y="3776472"/>
            <a:ext cx="4498848" cy="219456"/>
          </a:xfrm>
          <a:prstGeom prst="rect">
            <a:avLst/>
          </a:prstGeom>
          <a:noFill/>
          <a:ln/>
        </p:spPr>
        <p:txBody>
          <a:bodyPr wrap="square" lIns="0" tIns="0" rIns="0" bIns="0" rtlCol="0" anchor="ctr">
            <a:normAutofit/>
          </a:bodyPr>
          <a:lstStyle/>
          <a:p>
            <a:pPr indent="0" marL="0">
              <a:buNone/>
            </a:pPr>
            <a:r>
              <a:rPr lang="en-US" sz="1100" dirty="0">
                <a:solidFill>
                  <a:srgbClr val="161514"/>
                </a:solidFill>
                <a:latin typeface="Avenir Next" pitchFamily="34" charset="0"/>
                <a:ea typeface="Avenir Next" pitchFamily="34" charset="-122"/>
                <a:cs typeface="Avenir Next" pitchFamily="34" charset="-120"/>
              </a:rPr>
              <a:t>said distance affected a course choice</a:t>
            </a:r>
            <a:endParaRPr lang="en-US" sz="1100" dirty="0"/>
          </a:p>
        </p:txBody>
      </p:sp>
      <p:sp>
        <p:nvSpPr>
          <p:cNvPr id="46" name="Text 44"/>
          <p:cNvSpPr/>
          <p:nvPr/>
        </p:nvSpPr>
        <p:spPr>
          <a:xfrm>
            <a:off x="5596128" y="4315968"/>
            <a:ext cx="502920" cy="274320"/>
          </a:xfrm>
          <a:prstGeom prst="rect">
            <a:avLst/>
          </a:prstGeom>
          <a:noFill/>
          <a:ln/>
        </p:spPr>
        <p:txBody>
          <a:bodyPr wrap="square" lIns="0" tIns="0" rIns="0" bIns="0" rtlCol="0" anchor="ctr"/>
          <a:lstStyle/>
          <a:p>
            <a:pPr algn="ctr" indent="0" marL="0">
              <a:buNone/>
            </a:pPr>
            <a:r>
              <a:rPr lang="en-US" sz="2000" b="1" dirty="0">
                <a:solidFill>
                  <a:srgbClr val="8C1515"/>
                </a:solidFill>
                <a:latin typeface="Georgia" pitchFamily="34" charset="0"/>
                <a:ea typeface="Georgia" pitchFamily="34" charset="-122"/>
                <a:cs typeface="Georgia" pitchFamily="34" charset="-120"/>
              </a:rPr>
              <a:t>3</a:t>
            </a:r>
            <a:endParaRPr lang="en-US" sz="2000" dirty="0"/>
          </a:p>
        </p:txBody>
      </p:sp>
      <p:sp>
        <p:nvSpPr>
          <p:cNvPr id="47" name="Text 45"/>
          <p:cNvSpPr/>
          <p:nvPr/>
        </p:nvSpPr>
        <p:spPr>
          <a:xfrm>
            <a:off x="6327648" y="4352544"/>
            <a:ext cx="4498848" cy="219456"/>
          </a:xfrm>
          <a:prstGeom prst="rect">
            <a:avLst/>
          </a:prstGeom>
          <a:noFill/>
          <a:ln/>
        </p:spPr>
        <p:txBody>
          <a:bodyPr wrap="square" lIns="0" tIns="0" rIns="0" bIns="0" rtlCol="0" anchor="ctr">
            <a:normAutofit/>
          </a:bodyPr>
          <a:lstStyle/>
          <a:p>
            <a:pPr indent="0" marL="0">
              <a:buNone/>
            </a:pPr>
            <a:r>
              <a:rPr lang="en-US" sz="1100" dirty="0">
                <a:solidFill>
                  <a:srgbClr val="161514"/>
                </a:solidFill>
                <a:latin typeface="Avenir Next" pitchFamily="34" charset="0"/>
                <a:ea typeface="Avenir Next" pitchFamily="34" charset="-122"/>
                <a:cs typeface="Avenir Next" pitchFamily="34" charset="-120"/>
              </a:rPr>
              <a:t>skipped office hours, a study group or lunch</a:t>
            </a:r>
            <a:endParaRPr lang="en-US" sz="1100" dirty="0"/>
          </a:p>
        </p:txBody>
      </p:sp>
      <p:sp>
        <p:nvSpPr>
          <p:cNvPr id="48" name="Text 46"/>
          <p:cNvSpPr/>
          <p:nvPr/>
        </p:nvSpPr>
        <p:spPr>
          <a:xfrm>
            <a:off x="731520" y="4672584"/>
            <a:ext cx="1874520" cy="146304"/>
          </a:xfrm>
          <a:prstGeom prst="rect">
            <a:avLst/>
          </a:prstGeom>
          <a:noFill/>
          <a:ln/>
        </p:spPr>
        <p:txBody>
          <a:bodyPr wrap="square" lIns="0" tIns="0" rIns="0" bIns="0" rtlCol="0" anchor="ctr"/>
          <a:lstStyle/>
          <a:p>
            <a:pPr indent="0" marL="0">
              <a:buNone/>
            </a:pPr>
            <a:r>
              <a:rPr lang="en-US" sz="750" b="1" spc="55" kern="0" dirty="0">
                <a:solidFill>
                  <a:srgbClr val="6B6761"/>
                </a:solidFill>
                <a:latin typeface="Avenir Next" pitchFamily="34" charset="0"/>
                <a:ea typeface="Avenir Next" pitchFamily="34" charset="-122"/>
                <a:cs typeface="Avenir Next" pitchFamily="34" charset="-120"/>
              </a:rPr>
              <a:t>TRAVEL MODES  (MULTI-SELECT)</a:t>
            </a:r>
            <a:endParaRPr lang="en-US" sz="750" dirty="0"/>
          </a:p>
        </p:txBody>
      </p:sp>
      <p:sp>
        <p:nvSpPr>
          <p:cNvPr id="49" name="Text 47"/>
          <p:cNvSpPr/>
          <p:nvPr/>
        </p:nvSpPr>
        <p:spPr>
          <a:xfrm>
            <a:off x="2761488" y="4645152"/>
            <a:ext cx="868680" cy="182880"/>
          </a:xfrm>
          <a:prstGeom prst="rect">
            <a:avLst/>
          </a:prstGeom>
          <a:noFill/>
          <a:ln/>
        </p:spPr>
        <p:txBody>
          <a:bodyPr wrap="square" lIns="0" tIns="0" rIns="0" bIns="0" rtlCol="0" anchor="ctr"/>
          <a:lstStyle/>
          <a:p>
            <a:pPr indent="0" marL="0">
              <a:buNone/>
            </a:pPr>
            <a:r>
              <a:rPr lang="en-US" sz="1250" b="1" dirty="0">
                <a:solidFill>
                  <a:srgbClr val="161514"/>
                </a:solidFill>
                <a:latin typeface="Georgia" pitchFamily="34" charset="0"/>
                <a:ea typeface="Georgia" pitchFamily="34" charset="-122"/>
                <a:cs typeface="Georgia" pitchFamily="34" charset="-120"/>
              </a:rPr>
              <a:t>21 walk</a:t>
            </a:r>
            <a:endParaRPr lang="en-US" sz="1250" dirty="0"/>
          </a:p>
        </p:txBody>
      </p:sp>
      <p:sp>
        <p:nvSpPr>
          <p:cNvPr id="50" name="Text 48"/>
          <p:cNvSpPr/>
          <p:nvPr/>
        </p:nvSpPr>
        <p:spPr>
          <a:xfrm>
            <a:off x="3840480" y="4645152"/>
            <a:ext cx="868680" cy="182880"/>
          </a:xfrm>
          <a:prstGeom prst="rect">
            <a:avLst/>
          </a:prstGeom>
          <a:noFill/>
          <a:ln/>
        </p:spPr>
        <p:txBody>
          <a:bodyPr wrap="square" lIns="0" tIns="0" rIns="0" bIns="0" rtlCol="0" anchor="ctr"/>
          <a:lstStyle/>
          <a:p>
            <a:pPr indent="0" marL="0">
              <a:buNone/>
            </a:pPr>
            <a:r>
              <a:rPr lang="en-US" sz="1250" b="1" dirty="0">
                <a:solidFill>
                  <a:srgbClr val="087E8B"/>
                </a:solidFill>
                <a:latin typeface="Georgia" pitchFamily="34" charset="0"/>
                <a:ea typeface="Georgia" pitchFamily="34" charset="-122"/>
                <a:cs typeface="Georgia" pitchFamily="34" charset="-120"/>
              </a:rPr>
              <a:t>11 bike</a:t>
            </a:r>
            <a:endParaRPr lang="en-US" sz="1250" dirty="0"/>
          </a:p>
        </p:txBody>
      </p:sp>
      <p:sp>
        <p:nvSpPr>
          <p:cNvPr id="51" name="Text 49"/>
          <p:cNvSpPr/>
          <p:nvPr/>
        </p:nvSpPr>
        <p:spPr>
          <a:xfrm>
            <a:off x="5074920" y="4645152"/>
            <a:ext cx="1234440" cy="182880"/>
          </a:xfrm>
          <a:prstGeom prst="rect">
            <a:avLst/>
          </a:prstGeom>
          <a:noFill/>
          <a:ln/>
        </p:spPr>
        <p:txBody>
          <a:bodyPr wrap="square" lIns="0" tIns="0" rIns="0" bIns="0" rtlCol="0" anchor="ctr"/>
          <a:lstStyle/>
          <a:p>
            <a:pPr indent="0" marL="0">
              <a:buNone/>
            </a:pPr>
            <a:r>
              <a:rPr lang="en-US" sz="1250" b="1" dirty="0">
                <a:solidFill>
                  <a:srgbClr val="C58D18"/>
                </a:solidFill>
                <a:latin typeface="Georgia" pitchFamily="34" charset="0"/>
                <a:ea typeface="Georgia" pitchFamily="34" charset="-122"/>
                <a:cs typeface="Georgia" pitchFamily="34" charset="-120"/>
              </a:rPr>
              <a:t>5 e-scooter</a:t>
            </a:r>
            <a:endParaRPr lang="en-US" sz="1250" dirty="0"/>
          </a:p>
        </p:txBody>
      </p:sp>
      <p:sp>
        <p:nvSpPr>
          <p:cNvPr id="52" name="Shape 50"/>
          <p:cNvSpPr/>
          <p:nvPr/>
        </p:nvSpPr>
        <p:spPr>
          <a:xfrm>
            <a:off x="694944" y="5001768"/>
            <a:ext cx="10771632" cy="941832"/>
          </a:xfrm>
          <a:prstGeom prst="rect">
            <a:avLst/>
          </a:prstGeom>
          <a:solidFill>
            <a:srgbClr val="EAE3D8"/>
          </a:solidFill>
          <a:ln w="12700">
            <a:solidFill>
              <a:srgbClr val="EAE3D8"/>
            </a:solidFill>
            <a:prstDash val="solid"/>
          </a:ln>
        </p:spPr>
      </p:sp>
      <p:sp>
        <p:nvSpPr>
          <p:cNvPr id="53" name="Text 51"/>
          <p:cNvSpPr/>
          <p:nvPr/>
        </p:nvSpPr>
        <p:spPr>
          <a:xfrm>
            <a:off x="1024128" y="5193792"/>
            <a:ext cx="9646920" cy="438912"/>
          </a:xfrm>
          <a:prstGeom prst="rect">
            <a:avLst/>
          </a:prstGeom>
          <a:noFill/>
          <a:ln/>
        </p:spPr>
        <p:txBody>
          <a:bodyPr wrap="square" lIns="0" tIns="0" rIns="0" bIns="0" rtlCol="0" anchor="ctr">
            <a:normAutofit/>
          </a:bodyPr>
          <a:lstStyle/>
          <a:p>
            <a:pPr algn="ctr" indent="0" marL="0">
              <a:buNone/>
            </a:pPr>
            <a:r>
              <a:rPr lang="en-US" sz="1700" i="1" dirty="0">
                <a:solidFill>
                  <a:srgbClr val="161514"/>
                </a:solidFill>
                <a:latin typeface="Georgia" pitchFamily="34" charset="0"/>
                <a:ea typeface="Georgia" pitchFamily="34" charset="-122"/>
                <a:cs typeface="Georgia" pitchFamily="34" charset="-120"/>
              </a:rPr>
              <a:t>"Usually it's only an issue when rain forces me to walk or a professor holds us late."</a:t>
            </a:r>
            <a:endParaRPr lang="en-US" sz="1700" dirty="0"/>
          </a:p>
        </p:txBody>
      </p:sp>
      <p:sp>
        <p:nvSpPr>
          <p:cNvPr id="54" name="Text 52"/>
          <p:cNvSpPr/>
          <p:nvPr/>
        </p:nvSpPr>
        <p:spPr>
          <a:xfrm>
            <a:off x="4251960" y="5669280"/>
            <a:ext cx="3657600" cy="146304"/>
          </a:xfrm>
          <a:prstGeom prst="rect">
            <a:avLst/>
          </a:prstGeom>
          <a:noFill/>
          <a:ln/>
        </p:spPr>
        <p:txBody>
          <a:bodyPr wrap="square" lIns="0" tIns="0" rIns="0" bIns="0" rtlCol="0" anchor="ctr"/>
          <a:lstStyle/>
          <a:p>
            <a:pPr algn="ctr" indent="0" marL="0">
              <a:buNone/>
            </a:pPr>
            <a:r>
              <a:rPr lang="en-US" sz="750" b="1" spc="90" kern="0" dirty="0">
                <a:solidFill>
                  <a:srgbClr val="8C1515"/>
                </a:solidFill>
                <a:latin typeface="Avenir Next" pitchFamily="34" charset="0"/>
                <a:ea typeface="Avenir Next" pitchFamily="34" charset="-122"/>
                <a:cs typeface="Avenir Next" pitchFamily="34" charset="-120"/>
              </a:rPr>
              <a:t>ANONYMOUS SURVEY RESPONDENT</a:t>
            </a:r>
            <a:endParaRPr lang="en-US" sz="750" dirty="0"/>
          </a:p>
        </p:txBody>
      </p:sp>
      <p:sp>
        <p:nvSpPr>
          <p:cNvPr id="55" name="Text 53"/>
          <p:cNvSpPr/>
          <p:nvPr/>
        </p:nvSpPr>
        <p:spPr>
          <a:xfrm>
            <a:off x="713232" y="6126480"/>
            <a:ext cx="6492240" cy="164592"/>
          </a:xfrm>
          <a:prstGeom prst="rect">
            <a:avLst/>
          </a:prstGeom>
          <a:noFill/>
          <a:ln/>
        </p:spPr>
        <p:txBody>
          <a:bodyPr wrap="square" lIns="0" tIns="0" rIns="0" bIns="0" rtlCol="0" anchor="ctr">
            <a:normAutofit/>
          </a:bodyPr>
          <a:lstStyle/>
          <a:p>
            <a:pPr indent="0" marL="0">
              <a:buNone/>
            </a:pPr>
            <a:r>
              <a:rPr lang="en-US" sz="820" i="1" dirty="0">
                <a:solidFill>
                  <a:srgbClr val="6B6761"/>
                </a:solidFill>
                <a:latin typeface="Avenir Next" pitchFamily="34" charset="0"/>
                <a:ea typeface="Avenir Next" pitchFamily="34" charset="-122"/>
                <a:cs typeface="Avenir Next" pitchFamily="34" charset="-120"/>
              </a:rPr>
              <a:t>Convenience sample: the 27 responses do not estimate campus-wide prevalence.</a:t>
            </a:r>
            <a:endParaRPr lang="en-US" sz="820" dirty="0"/>
          </a:p>
        </p:txBody>
      </p:sp>
      <p:sp>
        <p:nvSpPr>
          <p:cNvPr id="56" name="Text 54"/>
          <p:cNvSpPr/>
          <p:nvPr/>
        </p:nvSpPr>
        <p:spPr>
          <a:xfrm>
            <a:off x="6629400" y="6117336"/>
            <a:ext cx="4800600" cy="164592"/>
          </a:xfrm>
          <a:prstGeom prst="rect">
            <a:avLst/>
          </a:prstGeom>
          <a:noFill/>
          <a:ln/>
        </p:spPr>
        <p:txBody>
          <a:bodyPr wrap="square" lIns="0" tIns="0" rIns="0" bIns="0" rtlCol="0" anchor="ctr">
            <a:normAutofit/>
          </a:bodyPr>
          <a:lstStyle/>
          <a:p>
            <a:pPr algn="r" indent="0" marL="0">
              <a:buNone/>
            </a:pPr>
            <a:r>
              <a:rPr lang="en-US" sz="820" b="1" dirty="0">
                <a:solidFill>
                  <a:srgbClr val="8C1515"/>
                </a:solidFill>
                <a:latin typeface="Avenir Next" pitchFamily="34" charset="0"/>
                <a:ea typeface="Avenir Next" pitchFamily="34" charset="-122"/>
                <a:cs typeface="Avenir Next" pitchFamily="34" charset="-120"/>
              </a:rPr>
              <a:t>Next reporting: official response + field timing + deeper interviews</a:t>
            </a:r>
            <a:endParaRPr lang="en-US" sz="820" dirty="0"/>
          </a:p>
        </p:txBody>
      </p:sp>
      <p:sp>
        <p:nvSpPr>
          <p:cNvPr id="57" name="Text 55">
            <a:hlinkClick r:id="rId1" tooltip=""/>
          </p:cNvPr>
          <p:cNvSpPr/>
          <p:nvPr/>
        </p:nvSpPr>
        <p:spPr>
          <a:xfrm>
            <a:off x="658368" y="6519672"/>
            <a:ext cx="10287000" cy="137160"/>
          </a:xfrm>
          <a:prstGeom prst="rect">
            <a:avLst/>
          </a:prstGeom>
          <a:noFill/>
          <a:ln/>
        </p:spPr>
        <p:txBody>
          <a:bodyPr wrap="square" lIns="0" tIns="0" rIns="0" bIns="0" rtlCol="0" anchor="ctr">
            <a:normAutofit/>
          </a:bodyPr>
          <a:lstStyle/>
          <a:p>
            <a:pPr indent="0" marL="0">
              <a:buNone/>
            </a:pPr>
            <a:r>
              <a:rPr lang="en-US" sz="730" u="sng" dirty="0">
                <a:solidFill>
                  <a:srgbClr val="6B6761"/>
                </a:solidFill>
                <a:latin typeface="Avenir Next" pitchFamily="34" charset="0"/>
                <a:ea typeface="Avenir Next" pitchFamily="34" charset="-122"/>
                <a:cs typeface="Avenir N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author-conducted 27-response convenience survey</a:t>
            </a:r>
            <a:endParaRPr lang="en-US" sz="7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58368" y="283464"/>
            <a:ext cx="4389120" cy="164592"/>
          </a:xfrm>
          <a:prstGeom prst="rect">
            <a:avLst/>
          </a:prstGeom>
          <a:noFill/>
          <a:ln/>
        </p:spPr>
        <p:txBody>
          <a:bodyPr wrap="square" lIns="0" tIns="0" rIns="0" bIns="0" rtlCol="0" anchor="ctr"/>
          <a:lstStyle/>
          <a:p>
            <a:pPr indent="0" marL="0">
              <a:buNone/>
            </a:pPr>
            <a:r>
              <a:rPr lang="en-US" sz="880" b="1" spc="140" kern="0" dirty="0">
                <a:solidFill>
                  <a:srgbClr val="8C1515"/>
                </a:solidFill>
                <a:latin typeface="Avenir Next" pitchFamily="34" charset="0"/>
                <a:ea typeface="Avenir Next" pitchFamily="34" charset="-122"/>
                <a:cs typeface="Avenir Next" pitchFamily="34" charset="-120"/>
              </a:rPr>
              <a:t>STORY</a:t>
            </a:r>
            <a:endParaRPr lang="en-US" sz="880" dirty="0"/>
          </a:p>
        </p:txBody>
      </p:sp>
      <p:sp>
        <p:nvSpPr>
          <p:cNvPr id="3" name="Text 1"/>
          <p:cNvSpPr/>
          <p:nvPr/>
        </p:nvSpPr>
        <p:spPr>
          <a:xfrm>
            <a:off x="10927080" y="283464"/>
            <a:ext cx="603504" cy="164592"/>
          </a:xfrm>
          <a:prstGeom prst="rect">
            <a:avLst/>
          </a:prstGeom>
          <a:noFill/>
          <a:ln/>
        </p:spPr>
        <p:txBody>
          <a:bodyPr wrap="square" lIns="0" tIns="0" rIns="0" bIns="0" rtlCol="0" anchor="ctr"/>
          <a:lstStyle/>
          <a:p>
            <a:pPr algn="r" indent="0" marL="0">
              <a:buNone/>
            </a:pPr>
            <a:r>
              <a:rPr lang="en-US" sz="830" b="1" dirty="0">
                <a:solidFill>
                  <a:srgbClr val="6B6761"/>
                </a:solidFill>
                <a:latin typeface="Avenir Next" pitchFamily="34" charset="0"/>
                <a:ea typeface="Avenir Next" pitchFamily="34" charset="-122"/>
                <a:cs typeface="Avenir Next" pitchFamily="34" charset="-120"/>
              </a:rPr>
              <a:t>6 / 7</a:t>
            </a:r>
            <a:endParaRPr lang="en-US" sz="830" dirty="0"/>
          </a:p>
        </p:txBody>
      </p:sp>
      <p:sp>
        <p:nvSpPr>
          <p:cNvPr id="4" name="Shape 2"/>
          <p:cNvSpPr/>
          <p:nvPr/>
        </p:nvSpPr>
        <p:spPr>
          <a:xfrm>
            <a:off x="658368" y="603504"/>
            <a:ext cx="10872216" cy="0"/>
          </a:xfrm>
          <a:prstGeom prst="line">
            <a:avLst/>
          </a:prstGeom>
          <a:noFill/>
          <a:ln w="12700">
            <a:solidFill>
              <a:srgbClr val="D8D0C4"/>
            </a:solidFill>
            <a:prstDash val="solid"/>
          </a:ln>
        </p:spPr>
      </p:sp>
      <p:sp>
        <p:nvSpPr>
          <p:cNvPr id="5" name="Text 3"/>
          <p:cNvSpPr/>
          <p:nvPr/>
        </p:nvSpPr>
        <p:spPr>
          <a:xfrm>
            <a:off x="658368" y="786384"/>
            <a:ext cx="10872216" cy="548640"/>
          </a:xfrm>
          <a:prstGeom prst="rect">
            <a:avLst/>
          </a:prstGeom>
          <a:noFill/>
          <a:ln/>
        </p:spPr>
        <p:txBody>
          <a:bodyPr wrap="square" lIns="0" tIns="0" rIns="0" bIns="0" rtlCol="0" anchor="ctr">
            <a:normAutofit/>
          </a:bodyPr>
          <a:lstStyle/>
          <a:p>
            <a:pPr indent="0" marL="0">
              <a:buNone/>
            </a:pPr>
            <a:r>
              <a:rPr lang="en-US" sz="2900" b="1" dirty="0">
                <a:solidFill>
                  <a:srgbClr val="161514"/>
                </a:solidFill>
                <a:latin typeface="Georgia" pitchFamily="34" charset="0"/>
                <a:ea typeface="Georgia" pitchFamily="34" charset="-122"/>
                <a:cs typeface="Georgia" pitchFamily="34" charset="-120"/>
              </a:rPr>
              <a:t>Same gap. A bicycle brings three of four inside the limit.</a:t>
            </a:r>
            <a:endParaRPr lang="en-US" sz="2900" dirty="0"/>
          </a:p>
        </p:txBody>
      </p:sp>
      <p:sp>
        <p:nvSpPr>
          <p:cNvPr id="6" name="Text 4"/>
          <p:cNvSpPr/>
          <p:nvPr/>
        </p:nvSpPr>
        <p:spPr>
          <a:xfrm>
            <a:off x="676656" y="1344168"/>
            <a:ext cx="10744200" cy="256032"/>
          </a:xfrm>
          <a:prstGeom prst="rect">
            <a:avLst/>
          </a:prstGeom>
          <a:noFill/>
          <a:ln/>
        </p:spPr>
        <p:txBody>
          <a:bodyPr wrap="square" lIns="0" tIns="0" rIns="0" bIns="0" rtlCol="0" anchor="ctr">
            <a:normAutofit/>
          </a:bodyPr>
          <a:lstStyle/>
          <a:p>
            <a:pPr indent="0" marL="0">
              <a:buNone/>
            </a:pPr>
            <a:r>
              <a:rPr lang="en-US" sz="1150" dirty="0">
                <a:solidFill>
                  <a:srgbClr val="6B6761"/>
                </a:solidFill>
                <a:latin typeface="Avenir Next" pitchFamily="34" charset="0"/>
                <a:ea typeface="Avenir Next" pitchFamily="34" charset="-122"/>
                <a:cs typeface="Avenir Next" pitchFamily="34" charset="-120"/>
              </a:rPr>
              <a:t>Walking bars at 3 mph; bicycle markers at 8 mph. The red rule marks the next class start.</a:t>
            </a:r>
            <a:endParaRPr lang="en-US" sz="1150" dirty="0"/>
          </a:p>
        </p:txBody>
      </p:sp>
      <p:sp>
        <p:nvSpPr>
          <p:cNvPr id="7" name="Shape 5"/>
          <p:cNvSpPr/>
          <p:nvPr/>
        </p:nvSpPr>
        <p:spPr>
          <a:xfrm>
            <a:off x="6478524" y="1783080"/>
            <a:ext cx="27432" cy="4169664"/>
          </a:xfrm>
          <a:prstGeom prst="rect">
            <a:avLst/>
          </a:prstGeom>
          <a:solidFill>
            <a:srgbClr val="8C1515"/>
          </a:solidFill>
          <a:ln w="12700">
            <a:solidFill>
              <a:srgbClr val="8C1515"/>
            </a:solidFill>
            <a:prstDash val="solid"/>
          </a:ln>
        </p:spPr>
      </p:sp>
      <p:sp>
        <p:nvSpPr>
          <p:cNvPr id="8" name="Text 6"/>
          <p:cNvSpPr/>
          <p:nvPr/>
        </p:nvSpPr>
        <p:spPr>
          <a:xfrm>
            <a:off x="5779008" y="1645920"/>
            <a:ext cx="1426464" cy="146304"/>
          </a:xfrm>
          <a:prstGeom prst="rect">
            <a:avLst/>
          </a:prstGeom>
          <a:noFill/>
          <a:ln/>
        </p:spPr>
        <p:txBody>
          <a:bodyPr wrap="square" lIns="0" tIns="0" rIns="0" bIns="0" rtlCol="0" anchor="ctr"/>
          <a:lstStyle/>
          <a:p>
            <a:pPr algn="ctr" indent="0" marL="0">
              <a:buNone/>
            </a:pPr>
            <a:r>
              <a:rPr lang="en-US" sz="760" b="1" spc="70" kern="0" dirty="0">
                <a:solidFill>
                  <a:srgbClr val="8C1515"/>
                </a:solidFill>
                <a:latin typeface="Avenir Next" pitchFamily="34" charset="0"/>
                <a:ea typeface="Avenir Next" pitchFamily="34" charset="-122"/>
                <a:cs typeface="Avenir Next" pitchFamily="34" charset="-120"/>
              </a:rPr>
              <a:t>10-MINUTE LIMIT</a:t>
            </a:r>
            <a:endParaRPr lang="en-US" sz="760" dirty="0"/>
          </a:p>
        </p:txBody>
      </p:sp>
      <p:sp>
        <p:nvSpPr>
          <p:cNvPr id="9" name="Shape 7"/>
          <p:cNvSpPr/>
          <p:nvPr/>
        </p:nvSpPr>
        <p:spPr>
          <a:xfrm>
            <a:off x="713232" y="1664208"/>
            <a:ext cx="310896" cy="91440"/>
          </a:xfrm>
          <a:prstGeom prst="rect">
            <a:avLst/>
          </a:prstGeom>
          <a:solidFill>
            <a:srgbClr val="161514"/>
          </a:solidFill>
          <a:ln w="12700">
            <a:solidFill>
              <a:srgbClr val="161514"/>
            </a:solidFill>
            <a:prstDash val="solid"/>
          </a:ln>
        </p:spPr>
      </p:sp>
      <p:sp>
        <p:nvSpPr>
          <p:cNvPr id="10" name="Text 8"/>
          <p:cNvSpPr/>
          <p:nvPr/>
        </p:nvSpPr>
        <p:spPr>
          <a:xfrm>
            <a:off x="1097280" y="1627632"/>
            <a:ext cx="502920" cy="146304"/>
          </a:xfrm>
          <a:prstGeom prst="rect">
            <a:avLst/>
          </a:prstGeom>
          <a:noFill/>
          <a:ln/>
        </p:spPr>
        <p:txBody>
          <a:bodyPr wrap="square" lIns="0" tIns="0" rIns="0" bIns="0" rtlCol="0" anchor="ctr"/>
          <a:lstStyle/>
          <a:p>
            <a:pPr indent="0" marL="0">
              <a:buNone/>
            </a:pPr>
            <a:r>
              <a:rPr lang="en-US" sz="750" b="1" dirty="0">
                <a:solidFill>
                  <a:srgbClr val="161514"/>
                </a:solidFill>
                <a:latin typeface="Avenir Next" pitchFamily="34" charset="0"/>
                <a:ea typeface="Avenir Next" pitchFamily="34" charset="-122"/>
                <a:cs typeface="Avenir Next" pitchFamily="34" charset="-120"/>
              </a:rPr>
              <a:t>WALK</a:t>
            </a:r>
            <a:endParaRPr lang="en-US" sz="750" dirty="0"/>
          </a:p>
        </p:txBody>
      </p:sp>
      <p:sp>
        <p:nvSpPr>
          <p:cNvPr id="11" name="Shape 9"/>
          <p:cNvSpPr/>
          <p:nvPr/>
        </p:nvSpPr>
        <p:spPr>
          <a:xfrm>
            <a:off x="1810512" y="1636776"/>
            <a:ext cx="128016" cy="128016"/>
          </a:xfrm>
          <a:prstGeom prst="ellipse">
            <a:avLst/>
          </a:prstGeom>
          <a:solidFill>
            <a:srgbClr val="087E8B"/>
          </a:solidFill>
          <a:ln w="12700">
            <a:solidFill>
              <a:srgbClr val="F5F1E9"/>
            </a:solidFill>
            <a:prstDash val="solid"/>
          </a:ln>
        </p:spPr>
      </p:sp>
      <p:sp>
        <p:nvSpPr>
          <p:cNvPr id="12" name="Text 10"/>
          <p:cNvSpPr/>
          <p:nvPr/>
        </p:nvSpPr>
        <p:spPr>
          <a:xfrm>
            <a:off x="2011680" y="1627632"/>
            <a:ext cx="502920" cy="146304"/>
          </a:xfrm>
          <a:prstGeom prst="rect">
            <a:avLst/>
          </a:prstGeom>
          <a:noFill/>
          <a:ln/>
        </p:spPr>
        <p:txBody>
          <a:bodyPr wrap="square" lIns="0" tIns="0" rIns="0" bIns="0" rtlCol="0" anchor="ctr"/>
          <a:lstStyle/>
          <a:p>
            <a:pPr indent="0" marL="0">
              <a:buNone/>
            </a:pPr>
            <a:r>
              <a:rPr lang="en-US" sz="750" b="1" dirty="0">
                <a:solidFill>
                  <a:srgbClr val="087E8B"/>
                </a:solidFill>
                <a:latin typeface="Avenir Next" pitchFamily="34" charset="0"/>
                <a:ea typeface="Avenir Next" pitchFamily="34" charset="-122"/>
                <a:cs typeface="Avenir Next" pitchFamily="34" charset="-120"/>
              </a:rPr>
              <a:t>BIKE</a:t>
            </a:r>
            <a:endParaRPr lang="en-US" sz="750" dirty="0"/>
          </a:p>
        </p:txBody>
      </p:sp>
      <p:sp>
        <p:nvSpPr>
          <p:cNvPr id="13" name="Text 11"/>
          <p:cNvSpPr/>
          <p:nvPr/>
        </p:nvSpPr>
        <p:spPr>
          <a:xfrm>
            <a:off x="4187952" y="6016752"/>
            <a:ext cx="274320" cy="155448"/>
          </a:xfrm>
          <a:prstGeom prst="rect">
            <a:avLst/>
          </a:prstGeom>
          <a:noFill/>
          <a:ln/>
        </p:spPr>
        <p:txBody>
          <a:bodyPr wrap="square" lIns="0" tIns="0" rIns="0" bIns="0" rtlCol="0" anchor="ctr"/>
          <a:lstStyle/>
          <a:p>
            <a:pPr algn="ctr" indent="0" marL="0">
              <a:buNone/>
            </a:pPr>
            <a:r>
              <a:rPr lang="en-US" sz="800" dirty="0">
                <a:solidFill>
                  <a:srgbClr val="6B6761"/>
                </a:solidFill>
                <a:latin typeface="Avenir Next" pitchFamily="34" charset="0"/>
                <a:ea typeface="Avenir Next" pitchFamily="34" charset="-122"/>
                <a:cs typeface="Avenir Next" pitchFamily="34" charset="-120"/>
              </a:rPr>
              <a:t>0</a:t>
            </a:r>
            <a:endParaRPr lang="en-US" sz="800" dirty="0"/>
          </a:p>
        </p:txBody>
      </p:sp>
      <p:sp>
        <p:nvSpPr>
          <p:cNvPr id="14" name="Text 12"/>
          <p:cNvSpPr/>
          <p:nvPr/>
        </p:nvSpPr>
        <p:spPr>
          <a:xfrm>
            <a:off x="6355080" y="6016752"/>
            <a:ext cx="274320" cy="155448"/>
          </a:xfrm>
          <a:prstGeom prst="rect">
            <a:avLst/>
          </a:prstGeom>
          <a:noFill/>
          <a:ln/>
        </p:spPr>
        <p:txBody>
          <a:bodyPr wrap="square" lIns="0" tIns="0" rIns="0" bIns="0" rtlCol="0" anchor="ctr"/>
          <a:lstStyle/>
          <a:p>
            <a:pPr algn="ctr" indent="0" marL="0">
              <a:buNone/>
            </a:pPr>
            <a:r>
              <a:rPr lang="en-US" sz="800" dirty="0">
                <a:solidFill>
                  <a:srgbClr val="8C1515"/>
                </a:solidFill>
                <a:latin typeface="Avenir Next" pitchFamily="34" charset="0"/>
                <a:ea typeface="Avenir Next" pitchFamily="34" charset="-122"/>
                <a:cs typeface="Avenir Next" pitchFamily="34" charset="-120"/>
              </a:rPr>
              <a:t>10</a:t>
            </a:r>
            <a:endParaRPr lang="en-US" sz="800" dirty="0"/>
          </a:p>
        </p:txBody>
      </p:sp>
      <p:sp>
        <p:nvSpPr>
          <p:cNvPr id="15" name="Text 13"/>
          <p:cNvSpPr/>
          <p:nvPr/>
        </p:nvSpPr>
        <p:spPr>
          <a:xfrm>
            <a:off x="8549640" y="6016752"/>
            <a:ext cx="274320" cy="155448"/>
          </a:xfrm>
          <a:prstGeom prst="rect">
            <a:avLst/>
          </a:prstGeom>
          <a:noFill/>
          <a:ln/>
        </p:spPr>
        <p:txBody>
          <a:bodyPr wrap="square" lIns="0" tIns="0" rIns="0" bIns="0" rtlCol="0" anchor="ctr"/>
          <a:lstStyle/>
          <a:p>
            <a:pPr algn="ctr" indent="0" marL="0">
              <a:buNone/>
            </a:pPr>
            <a:r>
              <a:rPr lang="en-US" sz="800" dirty="0">
                <a:solidFill>
                  <a:srgbClr val="6B6761"/>
                </a:solidFill>
                <a:latin typeface="Avenir Next" pitchFamily="34" charset="0"/>
                <a:ea typeface="Avenir Next" pitchFamily="34" charset="-122"/>
                <a:cs typeface="Avenir Next" pitchFamily="34" charset="-120"/>
              </a:rPr>
              <a:t>20</a:t>
            </a:r>
            <a:endParaRPr lang="en-US" sz="800" dirty="0"/>
          </a:p>
        </p:txBody>
      </p:sp>
      <p:sp>
        <p:nvSpPr>
          <p:cNvPr id="16" name="Text 14"/>
          <p:cNvSpPr/>
          <p:nvPr/>
        </p:nvSpPr>
        <p:spPr>
          <a:xfrm>
            <a:off x="10533888" y="6016752"/>
            <a:ext cx="594360" cy="155448"/>
          </a:xfrm>
          <a:prstGeom prst="rect">
            <a:avLst/>
          </a:prstGeom>
          <a:noFill/>
          <a:ln/>
        </p:spPr>
        <p:txBody>
          <a:bodyPr wrap="square" lIns="0" tIns="0" rIns="0" bIns="0" rtlCol="0" anchor="ctr"/>
          <a:lstStyle/>
          <a:p>
            <a:pPr algn="ctr" indent="0" marL="0">
              <a:buNone/>
            </a:pPr>
            <a:r>
              <a:rPr lang="en-US" sz="800" dirty="0">
                <a:solidFill>
                  <a:srgbClr val="6B6761"/>
                </a:solidFill>
                <a:latin typeface="Avenir Next" pitchFamily="34" charset="0"/>
                <a:ea typeface="Avenir Next" pitchFamily="34" charset="-122"/>
                <a:cs typeface="Avenir Next" pitchFamily="34" charset="-120"/>
              </a:rPr>
              <a:t>30 min</a:t>
            </a:r>
            <a:endParaRPr lang="en-US" sz="800" dirty="0"/>
          </a:p>
        </p:txBody>
      </p:sp>
      <p:sp>
        <p:nvSpPr>
          <p:cNvPr id="17" name="Text 15"/>
          <p:cNvSpPr/>
          <p:nvPr/>
        </p:nvSpPr>
        <p:spPr>
          <a:xfrm>
            <a:off x="694944" y="1975104"/>
            <a:ext cx="3246120" cy="219456"/>
          </a:xfrm>
          <a:prstGeom prst="rect">
            <a:avLst/>
          </a:prstGeom>
          <a:noFill/>
          <a:ln/>
        </p:spPr>
        <p:txBody>
          <a:bodyPr wrap="square" lIns="0" tIns="0" rIns="0" bIns="0" rtlCol="0" anchor="ctr">
            <a:normAutofit/>
          </a:bodyPr>
          <a:lstStyle/>
          <a:p>
            <a:pPr indent="0" marL="0">
              <a:buNone/>
            </a:pPr>
            <a:r>
              <a:rPr lang="en-US" sz="1140" b="1" dirty="0">
                <a:solidFill>
                  <a:srgbClr val="161514"/>
                </a:solidFill>
                <a:latin typeface="Avenir Next" pitchFamily="34" charset="0"/>
                <a:ea typeface="Avenir Next" pitchFamily="34" charset="-122"/>
                <a:cs typeface="Avenir Next" pitchFamily="34" charset="-120"/>
              </a:rPr>
              <a:t>GEOPHYS 280  -&gt;  TURKLANG 2A</a:t>
            </a:r>
            <a:endParaRPr lang="en-US" sz="1140" dirty="0"/>
          </a:p>
        </p:txBody>
      </p:sp>
      <p:sp>
        <p:nvSpPr>
          <p:cNvPr id="18" name="Text 16"/>
          <p:cNvSpPr/>
          <p:nvPr/>
        </p:nvSpPr>
        <p:spPr>
          <a:xfrm>
            <a:off x="694944" y="2286000"/>
            <a:ext cx="3291840" cy="228600"/>
          </a:xfrm>
          <a:prstGeom prst="rect">
            <a:avLst/>
          </a:prstGeom>
          <a:noFill/>
          <a:ln/>
        </p:spPr>
        <p:txBody>
          <a:bodyPr wrap="square" lIns="0" tIns="0" rIns="0" bIns="0" rtlCol="0" anchor="ctr">
            <a:normAutofit/>
          </a:bodyPr>
          <a:lstStyle/>
          <a:p>
            <a:pPr indent="0" marL="0">
              <a:buNone/>
            </a:pPr>
            <a:r>
              <a:rPr lang="en-US" sz="860" dirty="0">
                <a:solidFill>
                  <a:srgbClr val="6B6761"/>
                </a:solidFill>
                <a:latin typeface="Avenir Next" pitchFamily="34" charset="0"/>
                <a:ea typeface="Avenir Next" pitchFamily="34" charset="-122"/>
                <a:cs typeface="Avenir Next" pitchFamily="34" charset="-120"/>
              </a:rPr>
              <a:t>Mitchell Earth Sciences to Building 240 | Fri 11:20-11:30</a:t>
            </a:r>
            <a:endParaRPr lang="en-US" sz="860" dirty="0"/>
          </a:p>
        </p:txBody>
      </p:sp>
      <p:sp>
        <p:nvSpPr>
          <p:cNvPr id="19" name="Shape 17"/>
          <p:cNvSpPr/>
          <p:nvPr/>
        </p:nvSpPr>
        <p:spPr>
          <a:xfrm>
            <a:off x="4297680" y="1993392"/>
            <a:ext cx="1360627" cy="274320"/>
          </a:xfrm>
          <a:prstGeom prst="rect">
            <a:avLst/>
          </a:prstGeom>
          <a:solidFill>
            <a:srgbClr val="161514"/>
          </a:solidFill>
          <a:ln w="12700">
            <a:solidFill>
              <a:srgbClr val="161514"/>
            </a:solidFill>
            <a:prstDash val="solid"/>
          </a:ln>
        </p:spPr>
      </p:sp>
      <p:sp>
        <p:nvSpPr>
          <p:cNvPr id="20" name="Text 18"/>
          <p:cNvSpPr/>
          <p:nvPr/>
        </p:nvSpPr>
        <p:spPr>
          <a:xfrm>
            <a:off x="5777179" y="1975104"/>
            <a:ext cx="822960" cy="192024"/>
          </a:xfrm>
          <a:prstGeom prst="rect">
            <a:avLst/>
          </a:prstGeom>
          <a:noFill/>
          <a:ln/>
        </p:spPr>
        <p:txBody>
          <a:bodyPr wrap="square" lIns="0" tIns="0" rIns="0" bIns="0" rtlCol="0" anchor="ctr">
            <a:normAutofit/>
          </a:bodyPr>
          <a:lstStyle/>
          <a:p>
            <a:pPr indent="0" marL="0">
              <a:buNone/>
            </a:pPr>
            <a:r>
              <a:rPr lang="en-US" sz="1150" b="1" dirty="0">
                <a:solidFill>
                  <a:srgbClr val="161514"/>
                </a:solidFill>
                <a:latin typeface="Georgia" pitchFamily="34" charset="0"/>
                <a:ea typeface="Georgia" pitchFamily="34" charset="-122"/>
                <a:cs typeface="Georgia" pitchFamily="34" charset="-120"/>
              </a:rPr>
              <a:t>walk 6.2</a:t>
            </a:r>
            <a:endParaRPr lang="en-US" sz="1150" dirty="0"/>
          </a:p>
        </p:txBody>
      </p:sp>
      <p:sp>
        <p:nvSpPr>
          <p:cNvPr id="21" name="Shape 19"/>
          <p:cNvSpPr/>
          <p:nvPr/>
        </p:nvSpPr>
        <p:spPr>
          <a:xfrm>
            <a:off x="4870094" y="2414016"/>
            <a:ext cx="128016" cy="128016"/>
          </a:xfrm>
          <a:prstGeom prst="ellipse">
            <a:avLst/>
          </a:prstGeom>
          <a:solidFill>
            <a:srgbClr val="087E8B"/>
          </a:solidFill>
          <a:ln w="12700">
            <a:solidFill>
              <a:srgbClr val="F5F1E9"/>
            </a:solidFill>
            <a:prstDash val="solid"/>
          </a:ln>
        </p:spPr>
      </p:sp>
      <p:sp>
        <p:nvSpPr>
          <p:cNvPr id="22" name="Text 20"/>
          <p:cNvSpPr/>
          <p:nvPr/>
        </p:nvSpPr>
        <p:spPr>
          <a:xfrm>
            <a:off x="5025542" y="2386584"/>
            <a:ext cx="713232" cy="155448"/>
          </a:xfrm>
          <a:prstGeom prst="rect">
            <a:avLst/>
          </a:prstGeom>
          <a:noFill/>
          <a:ln/>
        </p:spPr>
        <p:txBody>
          <a:bodyPr wrap="square" lIns="0" tIns="0" rIns="0" bIns="0" rtlCol="0" anchor="ctr">
            <a:normAutofit/>
          </a:bodyPr>
          <a:lstStyle/>
          <a:p>
            <a:pPr indent="0" marL="0">
              <a:buNone/>
            </a:pPr>
            <a:r>
              <a:rPr lang="en-US" sz="800" b="1" dirty="0">
                <a:solidFill>
                  <a:srgbClr val="087E8B"/>
                </a:solidFill>
                <a:latin typeface="Avenir Next" pitchFamily="34" charset="0"/>
                <a:ea typeface="Avenir Next" pitchFamily="34" charset="-122"/>
                <a:cs typeface="Avenir Next" pitchFamily="34" charset="-120"/>
              </a:rPr>
              <a:t>bike 2.9</a:t>
            </a:r>
            <a:endParaRPr lang="en-US" sz="800" dirty="0"/>
          </a:p>
        </p:txBody>
      </p:sp>
      <p:sp>
        <p:nvSpPr>
          <p:cNvPr id="23" name="Text 21"/>
          <p:cNvSpPr/>
          <p:nvPr/>
        </p:nvSpPr>
        <p:spPr>
          <a:xfrm>
            <a:off x="5777179" y="2231136"/>
            <a:ext cx="1097280" cy="155448"/>
          </a:xfrm>
          <a:prstGeom prst="rect">
            <a:avLst/>
          </a:prstGeom>
          <a:noFill/>
          <a:ln/>
        </p:spPr>
        <p:txBody>
          <a:bodyPr wrap="square" lIns="0" tIns="0" rIns="0" bIns="0" rtlCol="0" anchor="ctr">
            <a:normAutofit/>
          </a:bodyPr>
          <a:lstStyle/>
          <a:p>
            <a:pPr indent="0" marL="0">
              <a:buNone/>
            </a:pPr>
            <a:r>
              <a:rPr lang="en-US" sz="740" b="1" dirty="0">
                <a:solidFill>
                  <a:srgbClr val="161514"/>
                </a:solidFill>
                <a:latin typeface="Avenir Next" pitchFamily="34" charset="0"/>
                <a:ea typeface="Avenir Next" pitchFamily="34" charset="-122"/>
                <a:cs typeface="Avenir Next" pitchFamily="34" charset="-120"/>
              </a:rPr>
              <a:t>walk margin +3.8 min</a:t>
            </a:r>
            <a:endParaRPr lang="en-US" sz="740" dirty="0"/>
          </a:p>
        </p:txBody>
      </p:sp>
      <p:sp>
        <p:nvSpPr>
          <p:cNvPr id="24" name="Shape 22"/>
          <p:cNvSpPr/>
          <p:nvPr/>
        </p:nvSpPr>
        <p:spPr>
          <a:xfrm>
            <a:off x="694944" y="2734056"/>
            <a:ext cx="10753344" cy="0"/>
          </a:xfrm>
          <a:prstGeom prst="line">
            <a:avLst/>
          </a:prstGeom>
          <a:noFill/>
          <a:ln w="12700">
            <a:solidFill>
              <a:srgbClr val="D8D0C4"/>
            </a:solidFill>
            <a:prstDash val="solid"/>
          </a:ln>
        </p:spPr>
      </p:sp>
      <p:sp>
        <p:nvSpPr>
          <p:cNvPr id="25" name="Text 23"/>
          <p:cNvSpPr/>
          <p:nvPr/>
        </p:nvSpPr>
        <p:spPr>
          <a:xfrm>
            <a:off x="694944" y="2962656"/>
            <a:ext cx="3246120" cy="219456"/>
          </a:xfrm>
          <a:prstGeom prst="rect">
            <a:avLst/>
          </a:prstGeom>
          <a:noFill/>
          <a:ln/>
        </p:spPr>
        <p:txBody>
          <a:bodyPr wrap="square" lIns="0" tIns="0" rIns="0" bIns="0" rtlCol="0" anchor="ctr">
            <a:normAutofit/>
          </a:bodyPr>
          <a:lstStyle/>
          <a:p>
            <a:pPr indent="0" marL="0">
              <a:buNone/>
            </a:pPr>
            <a:r>
              <a:rPr lang="en-US" sz="1140" b="1" dirty="0">
                <a:solidFill>
                  <a:srgbClr val="161514"/>
                </a:solidFill>
                <a:latin typeface="Avenir Next" pitchFamily="34" charset="0"/>
                <a:ea typeface="Avenir Next" pitchFamily="34" charset="-122"/>
                <a:cs typeface="Avenir Next" pitchFamily="34" charset="-120"/>
              </a:rPr>
              <a:t>STRAMGT 354  -&gt;  MATH 131P</a:t>
            </a:r>
            <a:endParaRPr lang="en-US" sz="1140" dirty="0"/>
          </a:p>
        </p:txBody>
      </p:sp>
      <p:sp>
        <p:nvSpPr>
          <p:cNvPr id="26" name="Text 24"/>
          <p:cNvSpPr/>
          <p:nvPr/>
        </p:nvSpPr>
        <p:spPr>
          <a:xfrm>
            <a:off x="694944" y="3273552"/>
            <a:ext cx="3291840" cy="228600"/>
          </a:xfrm>
          <a:prstGeom prst="rect">
            <a:avLst/>
          </a:prstGeom>
          <a:noFill/>
          <a:ln/>
        </p:spPr>
        <p:txBody>
          <a:bodyPr wrap="square" lIns="0" tIns="0" rIns="0" bIns="0" rtlCol="0" anchor="ctr">
            <a:normAutofit/>
          </a:bodyPr>
          <a:lstStyle/>
          <a:p>
            <a:pPr indent="0" marL="0">
              <a:buNone/>
            </a:pPr>
            <a:r>
              <a:rPr lang="en-US" sz="860" dirty="0">
                <a:solidFill>
                  <a:srgbClr val="6B6761"/>
                </a:solidFill>
                <a:latin typeface="Avenir Next" pitchFamily="34" charset="0"/>
                <a:ea typeface="Avenir Next" pitchFamily="34" charset="-122"/>
                <a:cs typeface="Avenir Next" pitchFamily="34" charset="-120"/>
              </a:rPr>
              <a:t>GSB Gunn to Building 420 | Fri 11:20-11:30</a:t>
            </a:r>
            <a:endParaRPr lang="en-US" sz="860" dirty="0"/>
          </a:p>
        </p:txBody>
      </p:sp>
      <p:sp>
        <p:nvSpPr>
          <p:cNvPr id="27" name="Shape 25"/>
          <p:cNvSpPr/>
          <p:nvPr/>
        </p:nvSpPr>
        <p:spPr>
          <a:xfrm>
            <a:off x="4297680" y="2980944"/>
            <a:ext cx="2084832" cy="274320"/>
          </a:xfrm>
          <a:prstGeom prst="rect">
            <a:avLst/>
          </a:prstGeom>
          <a:solidFill>
            <a:srgbClr val="C58D18"/>
          </a:solidFill>
          <a:ln w="12700">
            <a:solidFill>
              <a:srgbClr val="C58D18"/>
            </a:solidFill>
            <a:prstDash val="solid"/>
          </a:ln>
        </p:spPr>
      </p:sp>
      <p:sp>
        <p:nvSpPr>
          <p:cNvPr id="28" name="Text 26"/>
          <p:cNvSpPr/>
          <p:nvPr/>
        </p:nvSpPr>
        <p:spPr>
          <a:xfrm>
            <a:off x="6638544" y="2962656"/>
            <a:ext cx="822960" cy="192024"/>
          </a:xfrm>
          <a:prstGeom prst="rect">
            <a:avLst/>
          </a:prstGeom>
          <a:noFill/>
          <a:ln/>
        </p:spPr>
        <p:txBody>
          <a:bodyPr wrap="square" lIns="0" tIns="0" rIns="0" bIns="0" rtlCol="0" anchor="ctr">
            <a:normAutofit/>
          </a:bodyPr>
          <a:lstStyle/>
          <a:p>
            <a:pPr indent="0" marL="0">
              <a:buNone/>
            </a:pPr>
            <a:r>
              <a:rPr lang="en-US" sz="1150" b="1" dirty="0">
                <a:solidFill>
                  <a:srgbClr val="C58D18"/>
                </a:solidFill>
                <a:latin typeface="Georgia" pitchFamily="34" charset="0"/>
                <a:ea typeface="Georgia" pitchFamily="34" charset="-122"/>
                <a:cs typeface="Georgia" pitchFamily="34" charset="-120"/>
              </a:rPr>
              <a:t>walk 9.5</a:t>
            </a:r>
            <a:endParaRPr lang="en-US" sz="1150" dirty="0"/>
          </a:p>
        </p:txBody>
      </p:sp>
      <p:sp>
        <p:nvSpPr>
          <p:cNvPr id="29" name="Shape 27"/>
          <p:cNvSpPr/>
          <p:nvPr/>
        </p:nvSpPr>
        <p:spPr>
          <a:xfrm>
            <a:off x="5089550" y="3401568"/>
            <a:ext cx="128016" cy="128016"/>
          </a:xfrm>
          <a:prstGeom prst="ellipse">
            <a:avLst/>
          </a:prstGeom>
          <a:solidFill>
            <a:srgbClr val="087E8B"/>
          </a:solidFill>
          <a:ln w="12700">
            <a:solidFill>
              <a:srgbClr val="F5F1E9"/>
            </a:solidFill>
            <a:prstDash val="solid"/>
          </a:ln>
        </p:spPr>
      </p:sp>
      <p:sp>
        <p:nvSpPr>
          <p:cNvPr id="30" name="Text 28"/>
          <p:cNvSpPr/>
          <p:nvPr/>
        </p:nvSpPr>
        <p:spPr>
          <a:xfrm>
            <a:off x="5244998" y="3374136"/>
            <a:ext cx="713232" cy="155448"/>
          </a:xfrm>
          <a:prstGeom prst="rect">
            <a:avLst/>
          </a:prstGeom>
          <a:noFill/>
          <a:ln/>
        </p:spPr>
        <p:txBody>
          <a:bodyPr wrap="square" lIns="0" tIns="0" rIns="0" bIns="0" rtlCol="0" anchor="ctr">
            <a:normAutofit/>
          </a:bodyPr>
          <a:lstStyle/>
          <a:p>
            <a:pPr indent="0" marL="0">
              <a:buNone/>
            </a:pPr>
            <a:r>
              <a:rPr lang="en-US" sz="800" b="1" dirty="0">
                <a:solidFill>
                  <a:srgbClr val="087E8B"/>
                </a:solidFill>
                <a:latin typeface="Avenir Next" pitchFamily="34" charset="0"/>
                <a:ea typeface="Avenir Next" pitchFamily="34" charset="-122"/>
                <a:cs typeface="Avenir Next" pitchFamily="34" charset="-120"/>
              </a:rPr>
              <a:t>bike 3.9</a:t>
            </a:r>
            <a:endParaRPr lang="en-US" sz="800" dirty="0"/>
          </a:p>
        </p:txBody>
      </p:sp>
      <p:sp>
        <p:nvSpPr>
          <p:cNvPr id="31" name="Text 29"/>
          <p:cNvSpPr/>
          <p:nvPr/>
        </p:nvSpPr>
        <p:spPr>
          <a:xfrm>
            <a:off x="6638544" y="3218688"/>
            <a:ext cx="1097280" cy="155448"/>
          </a:xfrm>
          <a:prstGeom prst="rect">
            <a:avLst/>
          </a:prstGeom>
          <a:noFill/>
          <a:ln/>
        </p:spPr>
        <p:txBody>
          <a:bodyPr wrap="square" lIns="0" tIns="0" rIns="0" bIns="0" rtlCol="0" anchor="ctr">
            <a:normAutofit/>
          </a:bodyPr>
          <a:lstStyle/>
          <a:p>
            <a:pPr indent="0" marL="0">
              <a:buNone/>
            </a:pPr>
            <a:r>
              <a:rPr lang="en-US" sz="740" b="1" dirty="0">
                <a:solidFill>
                  <a:srgbClr val="C58D18"/>
                </a:solidFill>
                <a:latin typeface="Avenir Next" pitchFamily="34" charset="0"/>
                <a:ea typeface="Avenir Next" pitchFamily="34" charset="-122"/>
                <a:cs typeface="Avenir Next" pitchFamily="34" charset="-120"/>
              </a:rPr>
              <a:t>walk margin +0.5 min</a:t>
            </a:r>
            <a:endParaRPr lang="en-US" sz="740" dirty="0"/>
          </a:p>
        </p:txBody>
      </p:sp>
      <p:sp>
        <p:nvSpPr>
          <p:cNvPr id="32" name="Shape 30"/>
          <p:cNvSpPr/>
          <p:nvPr/>
        </p:nvSpPr>
        <p:spPr>
          <a:xfrm>
            <a:off x="694944" y="3721608"/>
            <a:ext cx="10753344" cy="0"/>
          </a:xfrm>
          <a:prstGeom prst="line">
            <a:avLst/>
          </a:prstGeom>
          <a:noFill/>
          <a:ln w="12700">
            <a:solidFill>
              <a:srgbClr val="D8D0C4"/>
            </a:solidFill>
            <a:prstDash val="solid"/>
          </a:ln>
        </p:spPr>
      </p:sp>
      <p:sp>
        <p:nvSpPr>
          <p:cNvPr id="33" name="Text 31"/>
          <p:cNvSpPr/>
          <p:nvPr/>
        </p:nvSpPr>
        <p:spPr>
          <a:xfrm>
            <a:off x="694944" y="3950208"/>
            <a:ext cx="3246120" cy="219456"/>
          </a:xfrm>
          <a:prstGeom prst="rect">
            <a:avLst/>
          </a:prstGeom>
          <a:noFill/>
          <a:ln/>
        </p:spPr>
        <p:txBody>
          <a:bodyPr wrap="square" lIns="0" tIns="0" rIns="0" bIns="0" rtlCol="0" anchor="ctr">
            <a:normAutofit/>
          </a:bodyPr>
          <a:lstStyle/>
          <a:p>
            <a:pPr indent="0" marL="0">
              <a:buNone/>
            </a:pPr>
            <a:r>
              <a:rPr lang="en-US" sz="1140" b="1" dirty="0">
                <a:solidFill>
                  <a:srgbClr val="161514"/>
                </a:solidFill>
                <a:latin typeface="Avenir Next" pitchFamily="34" charset="0"/>
                <a:ea typeface="Avenir Next" pitchFamily="34" charset="-122"/>
                <a:cs typeface="Avenir Next" pitchFamily="34" charset="-120"/>
              </a:rPr>
              <a:t>COMPLIT 248B  -&gt;  OB 331</a:t>
            </a:r>
            <a:endParaRPr lang="en-US" sz="1140" dirty="0"/>
          </a:p>
        </p:txBody>
      </p:sp>
      <p:sp>
        <p:nvSpPr>
          <p:cNvPr id="34" name="Text 32"/>
          <p:cNvSpPr/>
          <p:nvPr/>
        </p:nvSpPr>
        <p:spPr>
          <a:xfrm>
            <a:off x="694944" y="4261104"/>
            <a:ext cx="3291840" cy="228600"/>
          </a:xfrm>
          <a:prstGeom prst="rect">
            <a:avLst/>
          </a:prstGeom>
          <a:noFill/>
          <a:ln/>
        </p:spPr>
        <p:txBody>
          <a:bodyPr wrap="square" lIns="0" tIns="0" rIns="0" bIns="0" rtlCol="0" anchor="ctr">
            <a:normAutofit/>
          </a:bodyPr>
          <a:lstStyle/>
          <a:p>
            <a:pPr indent="0" marL="0">
              <a:buNone/>
            </a:pPr>
            <a:r>
              <a:rPr lang="en-US" sz="860" dirty="0">
                <a:solidFill>
                  <a:srgbClr val="6B6761"/>
                </a:solidFill>
                <a:latin typeface="Avenir Next" pitchFamily="34" charset="0"/>
                <a:ea typeface="Avenir Next" pitchFamily="34" charset="-122"/>
                <a:cs typeface="Avenir Next" pitchFamily="34" charset="-120"/>
              </a:rPr>
              <a:t>Building 70 to Zambrano Hall | Mon 9:50-10:00</a:t>
            </a:r>
            <a:endParaRPr lang="en-US" sz="860" dirty="0"/>
          </a:p>
        </p:txBody>
      </p:sp>
      <p:sp>
        <p:nvSpPr>
          <p:cNvPr id="35" name="Shape 33"/>
          <p:cNvSpPr/>
          <p:nvPr/>
        </p:nvSpPr>
        <p:spPr>
          <a:xfrm>
            <a:off x="4297680" y="3968496"/>
            <a:ext cx="2633472" cy="274320"/>
          </a:xfrm>
          <a:prstGeom prst="rect">
            <a:avLst/>
          </a:prstGeom>
          <a:solidFill>
            <a:srgbClr val="8C1515"/>
          </a:solidFill>
          <a:ln w="12700">
            <a:solidFill>
              <a:srgbClr val="8C1515"/>
            </a:solidFill>
            <a:prstDash val="solid"/>
          </a:ln>
        </p:spPr>
      </p:sp>
      <p:sp>
        <p:nvSpPr>
          <p:cNvPr id="36" name="Text 34"/>
          <p:cNvSpPr/>
          <p:nvPr/>
        </p:nvSpPr>
        <p:spPr>
          <a:xfrm>
            <a:off x="7050024" y="3950208"/>
            <a:ext cx="822960" cy="192024"/>
          </a:xfrm>
          <a:prstGeom prst="rect">
            <a:avLst/>
          </a:prstGeom>
          <a:noFill/>
          <a:ln/>
        </p:spPr>
        <p:txBody>
          <a:bodyPr wrap="square" lIns="0" tIns="0" rIns="0" bIns="0" rtlCol="0" anchor="ctr">
            <a:normAutofit/>
          </a:bodyPr>
          <a:lstStyle/>
          <a:p>
            <a:pPr indent="0" marL="0">
              <a:buNone/>
            </a:pPr>
            <a:r>
              <a:rPr lang="en-US" sz="1150" b="1" dirty="0">
                <a:solidFill>
                  <a:srgbClr val="8C1515"/>
                </a:solidFill>
                <a:latin typeface="Georgia" pitchFamily="34" charset="0"/>
                <a:ea typeface="Georgia" pitchFamily="34" charset="-122"/>
                <a:cs typeface="Georgia" pitchFamily="34" charset="-120"/>
              </a:rPr>
              <a:t>walk 12.0</a:t>
            </a:r>
            <a:endParaRPr lang="en-US" sz="1150" dirty="0"/>
          </a:p>
        </p:txBody>
      </p:sp>
      <p:sp>
        <p:nvSpPr>
          <p:cNvPr id="37" name="Shape 35"/>
          <p:cNvSpPr/>
          <p:nvPr/>
        </p:nvSpPr>
        <p:spPr>
          <a:xfrm>
            <a:off x="5747918" y="4389120"/>
            <a:ext cx="128016" cy="128016"/>
          </a:xfrm>
          <a:prstGeom prst="ellipse">
            <a:avLst/>
          </a:prstGeom>
          <a:solidFill>
            <a:srgbClr val="087E8B"/>
          </a:solidFill>
          <a:ln w="12700">
            <a:solidFill>
              <a:srgbClr val="F5F1E9"/>
            </a:solidFill>
            <a:prstDash val="solid"/>
          </a:ln>
        </p:spPr>
      </p:sp>
      <p:sp>
        <p:nvSpPr>
          <p:cNvPr id="38" name="Text 36"/>
          <p:cNvSpPr/>
          <p:nvPr/>
        </p:nvSpPr>
        <p:spPr>
          <a:xfrm>
            <a:off x="5903366" y="4361688"/>
            <a:ext cx="713232" cy="155448"/>
          </a:xfrm>
          <a:prstGeom prst="rect">
            <a:avLst/>
          </a:prstGeom>
          <a:noFill/>
          <a:ln/>
        </p:spPr>
        <p:txBody>
          <a:bodyPr wrap="square" lIns="0" tIns="0" rIns="0" bIns="0" rtlCol="0" anchor="ctr">
            <a:normAutofit/>
          </a:bodyPr>
          <a:lstStyle/>
          <a:p>
            <a:pPr indent="0" marL="0">
              <a:buNone/>
            </a:pPr>
            <a:r>
              <a:rPr lang="en-US" sz="800" b="1" dirty="0">
                <a:solidFill>
                  <a:srgbClr val="087E8B"/>
                </a:solidFill>
                <a:latin typeface="Avenir Next" pitchFamily="34" charset="0"/>
                <a:ea typeface="Avenir Next" pitchFamily="34" charset="-122"/>
                <a:cs typeface="Avenir Next" pitchFamily="34" charset="-120"/>
              </a:rPr>
              <a:t>bike 6.9</a:t>
            </a:r>
            <a:endParaRPr lang="en-US" sz="800" dirty="0"/>
          </a:p>
        </p:txBody>
      </p:sp>
      <p:sp>
        <p:nvSpPr>
          <p:cNvPr id="39" name="Text 37"/>
          <p:cNvSpPr/>
          <p:nvPr/>
        </p:nvSpPr>
        <p:spPr>
          <a:xfrm>
            <a:off x="7050024" y="4206240"/>
            <a:ext cx="1097280" cy="155448"/>
          </a:xfrm>
          <a:prstGeom prst="rect">
            <a:avLst/>
          </a:prstGeom>
          <a:noFill/>
          <a:ln/>
        </p:spPr>
        <p:txBody>
          <a:bodyPr wrap="square" lIns="0" tIns="0" rIns="0" bIns="0" rtlCol="0" anchor="ctr">
            <a:normAutofit/>
          </a:bodyPr>
          <a:lstStyle/>
          <a:p>
            <a:pPr indent="0" marL="0">
              <a:buNone/>
            </a:pPr>
            <a:r>
              <a:rPr lang="en-US" sz="740" b="1" dirty="0">
                <a:solidFill>
                  <a:srgbClr val="8C1515"/>
                </a:solidFill>
                <a:latin typeface="Avenir Next" pitchFamily="34" charset="0"/>
                <a:ea typeface="Avenir Next" pitchFamily="34" charset="-122"/>
                <a:cs typeface="Avenir Next" pitchFamily="34" charset="-120"/>
              </a:rPr>
              <a:t>walk margin -2.0 min</a:t>
            </a:r>
            <a:endParaRPr lang="en-US" sz="740" dirty="0"/>
          </a:p>
        </p:txBody>
      </p:sp>
      <p:sp>
        <p:nvSpPr>
          <p:cNvPr id="40" name="Shape 38"/>
          <p:cNvSpPr/>
          <p:nvPr/>
        </p:nvSpPr>
        <p:spPr>
          <a:xfrm>
            <a:off x="694944" y="4709160"/>
            <a:ext cx="10753344" cy="0"/>
          </a:xfrm>
          <a:prstGeom prst="line">
            <a:avLst/>
          </a:prstGeom>
          <a:noFill/>
          <a:ln w="12700">
            <a:solidFill>
              <a:srgbClr val="D8D0C4"/>
            </a:solidFill>
            <a:prstDash val="solid"/>
          </a:ln>
        </p:spPr>
      </p:sp>
      <p:sp>
        <p:nvSpPr>
          <p:cNvPr id="41" name="Text 39"/>
          <p:cNvSpPr/>
          <p:nvPr/>
        </p:nvSpPr>
        <p:spPr>
          <a:xfrm>
            <a:off x="694944" y="4937760"/>
            <a:ext cx="3246120" cy="219456"/>
          </a:xfrm>
          <a:prstGeom prst="rect">
            <a:avLst/>
          </a:prstGeom>
          <a:noFill/>
          <a:ln/>
        </p:spPr>
        <p:txBody>
          <a:bodyPr wrap="square" lIns="0" tIns="0" rIns="0" bIns="0" rtlCol="0" anchor="ctr">
            <a:normAutofit/>
          </a:bodyPr>
          <a:lstStyle/>
          <a:p>
            <a:pPr indent="0" marL="0">
              <a:buNone/>
            </a:pPr>
            <a:r>
              <a:rPr lang="en-US" sz="1140" b="1" dirty="0">
                <a:solidFill>
                  <a:srgbClr val="161514"/>
                </a:solidFill>
                <a:latin typeface="Avenir Next" pitchFamily="34" charset="0"/>
                <a:ea typeface="Avenir Next" pitchFamily="34" charset="-122"/>
                <a:cs typeface="Avenir Next" pitchFamily="34" charset="-120"/>
              </a:rPr>
              <a:t>HORSE 10  -&gt;  BIO 71 / ESS 71</a:t>
            </a:r>
            <a:endParaRPr lang="en-US" sz="1140" dirty="0"/>
          </a:p>
        </p:txBody>
      </p:sp>
      <p:sp>
        <p:nvSpPr>
          <p:cNvPr id="42" name="Text 40"/>
          <p:cNvSpPr/>
          <p:nvPr/>
        </p:nvSpPr>
        <p:spPr>
          <a:xfrm>
            <a:off x="694944" y="5248656"/>
            <a:ext cx="3291840" cy="228600"/>
          </a:xfrm>
          <a:prstGeom prst="rect">
            <a:avLst/>
          </a:prstGeom>
          <a:noFill/>
          <a:ln/>
        </p:spPr>
        <p:txBody>
          <a:bodyPr wrap="square" lIns="0" tIns="0" rIns="0" bIns="0" rtlCol="0" anchor="ctr">
            <a:normAutofit/>
          </a:bodyPr>
          <a:lstStyle/>
          <a:p>
            <a:pPr indent="0" marL="0">
              <a:buNone/>
            </a:pPr>
            <a:r>
              <a:rPr lang="en-US" sz="860" dirty="0">
                <a:solidFill>
                  <a:srgbClr val="6B6761"/>
                </a:solidFill>
                <a:latin typeface="Avenir Next" pitchFamily="34" charset="0"/>
                <a:ea typeface="Avenir Next" pitchFamily="34" charset="-122"/>
                <a:cs typeface="Avenir Next" pitchFamily="34" charset="-120"/>
              </a:rPr>
              <a:t>Red Barn Stables to Encina West | Wed 12:20-12:30</a:t>
            </a:r>
            <a:endParaRPr lang="en-US" sz="860" dirty="0"/>
          </a:p>
        </p:txBody>
      </p:sp>
      <p:sp>
        <p:nvSpPr>
          <p:cNvPr id="43" name="Shape 41"/>
          <p:cNvSpPr/>
          <p:nvPr/>
        </p:nvSpPr>
        <p:spPr>
          <a:xfrm>
            <a:off x="4297680" y="4956048"/>
            <a:ext cx="6210605" cy="274320"/>
          </a:xfrm>
          <a:prstGeom prst="rect">
            <a:avLst/>
          </a:prstGeom>
          <a:solidFill>
            <a:srgbClr val="641010"/>
          </a:solidFill>
          <a:ln w="12700">
            <a:solidFill>
              <a:srgbClr val="641010"/>
            </a:solidFill>
            <a:prstDash val="solid"/>
          </a:ln>
        </p:spPr>
      </p:sp>
      <p:sp>
        <p:nvSpPr>
          <p:cNvPr id="44" name="Text 42"/>
          <p:cNvSpPr/>
          <p:nvPr/>
        </p:nvSpPr>
        <p:spPr>
          <a:xfrm>
            <a:off x="10627157" y="4937760"/>
            <a:ext cx="822960" cy="192024"/>
          </a:xfrm>
          <a:prstGeom prst="rect">
            <a:avLst/>
          </a:prstGeom>
          <a:noFill/>
          <a:ln/>
        </p:spPr>
        <p:txBody>
          <a:bodyPr wrap="square" lIns="0" tIns="0" rIns="0" bIns="0" rtlCol="0" anchor="ctr">
            <a:normAutofit/>
          </a:bodyPr>
          <a:lstStyle/>
          <a:p>
            <a:pPr indent="0" marL="0">
              <a:buNone/>
            </a:pPr>
            <a:r>
              <a:rPr lang="en-US" sz="1150" b="1" dirty="0">
                <a:solidFill>
                  <a:srgbClr val="641010"/>
                </a:solidFill>
                <a:latin typeface="Georgia" pitchFamily="34" charset="0"/>
                <a:ea typeface="Georgia" pitchFamily="34" charset="-122"/>
                <a:cs typeface="Georgia" pitchFamily="34" charset="-120"/>
              </a:rPr>
              <a:t>walk 28.3</a:t>
            </a:r>
            <a:endParaRPr lang="en-US" sz="1150" dirty="0"/>
          </a:p>
        </p:txBody>
      </p:sp>
      <p:sp>
        <p:nvSpPr>
          <p:cNvPr id="45" name="Shape 43"/>
          <p:cNvSpPr/>
          <p:nvPr/>
        </p:nvSpPr>
        <p:spPr>
          <a:xfrm>
            <a:off x="6603797" y="5376672"/>
            <a:ext cx="128016" cy="128016"/>
          </a:xfrm>
          <a:prstGeom prst="ellipse">
            <a:avLst/>
          </a:prstGeom>
          <a:solidFill>
            <a:srgbClr val="087E8B"/>
          </a:solidFill>
          <a:ln w="12700">
            <a:solidFill>
              <a:srgbClr val="F5F1E9"/>
            </a:solidFill>
            <a:prstDash val="solid"/>
          </a:ln>
        </p:spPr>
      </p:sp>
      <p:sp>
        <p:nvSpPr>
          <p:cNvPr id="46" name="Text 44"/>
          <p:cNvSpPr/>
          <p:nvPr/>
        </p:nvSpPr>
        <p:spPr>
          <a:xfrm>
            <a:off x="6759245" y="5349240"/>
            <a:ext cx="713232" cy="155448"/>
          </a:xfrm>
          <a:prstGeom prst="rect">
            <a:avLst/>
          </a:prstGeom>
          <a:noFill/>
          <a:ln/>
        </p:spPr>
        <p:txBody>
          <a:bodyPr wrap="square" lIns="0" tIns="0" rIns="0" bIns="0" rtlCol="0" anchor="ctr">
            <a:normAutofit/>
          </a:bodyPr>
          <a:lstStyle/>
          <a:p>
            <a:pPr indent="0" marL="0">
              <a:buNone/>
            </a:pPr>
            <a:r>
              <a:rPr lang="en-US" sz="800" b="1" dirty="0">
                <a:solidFill>
                  <a:srgbClr val="087E8B"/>
                </a:solidFill>
                <a:latin typeface="Avenir Next" pitchFamily="34" charset="0"/>
                <a:ea typeface="Avenir Next" pitchFamily="34" charset="-122"/>
                <a:cs typeface="Avenir Next" pitchFamily="34" charset="-120"/>
              </a:rPr>
              <a:t>bike 10.8</a:t>
            </a:r>
            <a:endParaRPr lang="en-US" sz="800" dirty="0"/>
          </a:p>
        </p:txBody>
      </p:sp>
      <p:sp>
        <p:nvSpPr>
          <p:cNvPr id="47" name="Text 45"/>
          <p:cNvSpPr/>
          <p:nvPr/>
        </p:nvSpPr>
        <p:spPr>
          <a:xfrm>
            <a:off x="10627157" y="5193792"/>
            <a:ext cx="1097280" cy="155448"/>
          </a:xfrm>
          <a:prstGeom prst="rect">
            <a:avLst/>
          </a:prstGeom>
          <a:noFill/>
          <a:ln/>
        </p:spPr>
        <p:txBody>
          <a:bodyPr wrap="square" lIns="0" tIns="0" rIns="0" bIns="0" rtlCol="0" anchor="ctr">
            <a:normAutofit/>
          </a:bodyPr>
          <a:lstStyle/>
          <a:p>
            <a:pPr indent="0" marL="0">
              <a:buNone/>
            </a:pPr>
            <a:r>
              <a:rPr lang="en-US" sz="740" b="1" dirty="0">
                <a:solidFill>
                  <a:srgbClr val="641010"/>
                </a:solidFill>
                <a:latin typeface="Avenir Next" pitchFamily="34" charset="0"/>
                <a:ea typeface="Avenir Next" pitchFamily="34" charset="-122"/>
                <a:cs typeface="Avenir Next" pitchFamily="34" charset="-120"/>
              </a:rPr>
              <a:t>walk margin -18.3 min</a:t>
            </a:r>
            <a:endParaRPr lang="en-US" sz="740" dirty="0"/>
          </a:p>
        </p:txBody>
      </p:sp>
      <p:sp>
        <p:nvSpPr>
          <p:cNvPr id="48" name="Shape 46"/>
          <p:cNvSpPr/>
          <p:nvPr/>
        </p:nvSpPr>
        <p:spPr>
          <a:xfrm>
            <a:off x="694944" y="5696712"/>
            <a:ext cx="10753344" cy="0"/>
          </a:xfrm>
          <a:prstGeom prst="line">
            <a:avLst/>
          </a:prstGeom>
          <a:noFill/>
          <a:ln w="12700">
            <a:solidFill>
              <a:srgbClr val="D8D0C4"/>
            </a:solidFill>
            <a:prstDash val="solid"/>
          </a:ln>
        </p:spPr>
      </p:sp>
      <p:sp>
        <p:nvSpPr>
          <p:cNvPr id="49" name="Text 47"/>
          <p:cNvSpPr/>
          <p:nvPr/>
        </p:nvSpPr>
        <p:spPr>
          <a:xfrm>
            <a:off x="713232" y="6236208"/>
            <a:ext cx="9509760" cy="155448"/>
          </a:xfrm>
          <a:prstGeom prst="rect">
            <a:avLst/>
          </a:prstGeom>
          <a:noFill/>
          <a:ln/>
        </p:spPr>
        <p:txBody>
          <a:bodyPr wrap="square" lIns="0" tIns="0" rIns="0" bIns="0" rtlCol="0" anchor="ctr">
            <a:normAutofit/>
          </a:bodyPr>
          <a:lstStyle/>
          <a:p>
            <a:pPr indent="0" marL="0">
              <a:buNone/>
            </a:pPr>
            <a:r>
              <a:rPr lang="en-US" sz="820" i="1" dirty="0">
                <a:solidFill>
                  <a:srgbClr val="6B6761"/>
                </a:solidFill>
                <a:latin typeface="Avenir Next" pitchFamily="34" charset="0"/>
                <a:ea typeface="Avenir Next" pitchFamily="34" charset="-122"/>
                <a:cs typeface="Avenir Next" pitchFamily="34" charset="-120"/>
              </a:rPr>
              <a:t>Schedule examples, not observed trips. Bike estimates exclude reaching, parking or dismounting a bicycle.</a:t>
            </a:r>
            <a:endParaRPr lang="en-US" sz="820" dirty="0"/>
          </a:p>
        </p:txBody>
      </p:sp>
      <p:sp>
        <p:nvSpPr>
          <p:cNvPr id="50" name="Text 48">
            <a:hlinkClick r:id="rId1" tooltip=""/>
          </p:cNvPr>
          <p:cNvSpPr/>
          <p:nvPr/>
        </p:nvSpPr>
        <p:spPr>
          <a:xfrm>
            <a:off x="658368" y="6519672"/>
            <a:ext cx="10287000" cy="137160"/>
          </a:xfrm>
          <a:prstGeom prst="rect">
            <a:avLst/>
          </a:prstGeom>
          <a:noFill/>
          <a:ln/>
        </p:spPr>
        <p:txBody>
          <a:bodyPr wrap="square" lIns="0" tIns="0" rIns="0" bIns="0" rtlCol="0" anchor="ctr">
            <a:normAutofit/>
          </a:bodyPr>
          <a:lstStyle/>
          <a:p>
            <a:pPr indent="0" marL="0">
              <a:buNone/>
            </a:pPr>
            <a:r>
              <a:rPr lang="en-US" sz="730" u="sng" dirty="0">
                <a:solidFill>
                  <a:srgbClr val="6B6761"/>
                </a:solidFill>
                <a:latin typeface="Avenir Next" pitchFamily="34" charset="0"/>
                <a:ea typeface="Avenir Next" pitchFamily="34" charset="-122"/>
                <a:cs typeface="Avenir N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Schedule: Stanford ExploreCourses | locations: Stanford Campus Map | routes: OSM contributors</a:t>
            </a:r>
            <a:endParaRPr lang="en-US" sz="7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9"/>
        </a:solidFill>
      </p:bgPr>
    </p:bg>
    <p:spTree>
      <p:nvGrpSpPr>
        <p:cNvPr id="1" name=""/>
        <p:cNvGrpSpPr/>
        <p:nvPr/>
      </p:nvGrpSpPr>
      <p:grpSpPr>
        <a:xfrm>
          <a:off x="0" y="0"/>
          <a:ext cx="0" cy="0"/>
          <a:chOff x="0" y="0"/>
          <a:chExt cx="0" cy="0"/>
        </a:xfrm>
      </p:grpSpPr>
      <p:sp>
        <p:nvSpPr>
          <p:cNvPr id="2" name="Text 0"/>
          <p:cNvSpPr/>
          <p:nvPr/>
        </p:nvSpPr>
        <p:spPr>
          <a:xfrm>
            <a:off x="658368" y="283464"/>
            <a:ext cx="4389120" cy="164592"/>
          </a:xfrm>
          <a:prstGeom prst="rect">
            <a:avLst/>
          </a:prstGeom>
          <a:noFill/>
          <a:ln/>
        </p:spPr>
        <p:txBody>
          <a:bodyPr wrap="square" lIns="0" tIns="0" rIns="0" bIns="0" rtlCol="0" anchor="ctr"/>
          <a:lstStyle/>
          <a:p>
            <a:pPr indent="0" marL="0">
              <a:buNone/>
            </a:pPr>
            <a:r>
              <a:rPr lang="en-US" sz="880" b="1" spc="140" kern="0" dirty="0">
                <a:solidFill>
                  <a:srgbClr val="8C1515"/>
                </a:solidFill>
                <a:latin typeface="Avenir Next" pitchFamily="34" charset="0"/>
                <a:ea typeface="Avenir Next" pitchFamily="34" charset="-122"/>
                <a:cs typeface="Avenir Next" pitchFamily="34" charset="-120"/>
              </a:rPr>
              <a:t>CONCLUSION</a:t>
            </a:r>
            <a:endParaRPr lang="en-US" sz="880" dirty="0"/>
          </a:p>
        </p:txBody>
      </p:sp>
      <p:sp>
        <p:nvSpPr>
          <p:cNvPr id="3" name="Text 1"/>
          <p:cNvSpPr/>
          <p:nvPr/>
        </p:nvSpPr>
        <p:spPr>
          <a:xfrm>
            <a:off x="10927080" y="283464"/>
            <a:ext cx="603504" cy="164592"/>
          </a:xfrm>
          <a:prstGeom prst="rect">
            <a:avLst/>
          </a:prstGeom>
          <a:noFill/>
          <a:ln/>
        </p:spPr>
        <p:txBody>
          <a:bodyPr wrap="square" lIns="0" tIns="0" rIns="0" bIns="0" rtlCol="0" anchor="ctr"/>
          <a:lstStyle/>
          <a:p>
            <a:pPr algn="r" indent="0" marL="0">
              <a:buNone/>
            </a:pPr>
            <a:r>
              <a:rPr lang="en-US" sz="830" b="1" dirty="0">
                <a:solidFill>
                  <a:srgbClr val="6B6761"/>
                </a:solidFill>
                <a:latin typeface="Avenir Next" pitchFamily="34" charset="0"/>
                <a:ea typeface="Avenir Next" pitchFamily="34" charset="-122"/>
                <a:cs typeface="Avenir Next" pitchFamily="34" charset="-120"/>
              </a:rPr>
              <a:t>7 / 7</a:t>
            </a:r>
            <a:endParaRPr lang="en-US" sz="830" dirty="0"/>
          </a:p>
        </p:txBody>
      </p:sp>
      <p:sp>
        <p:nvSpPr>
          <p:cNvPr id="4" name="Shape 2"/>
          <p:cNvSpPr/>
          <p:nvPr/>
        </p:nvSpPr>
        <p:spPr>
          <a:xfrm>
            <a:off x="658368" y="603504"/>
            <a:ext cx="10872216" cy="0"/>
          </a:xfrm>
          <a:prstGeom prst="line">
            <a:avLst/>
          </a:prstGeom>
          <a:noFill/>
          <a:ln w="12700">
            <a:solidFill>
              <a:srgbClr val="D8D0C4"/>
            </a:solidFill>
            <a:prstDash val="solid"/>
          </a:ln>
        </p:spPr>
      </p:sp>
      <p:sp>
        <p:nvSpPr>
          <p:cNvPr id="5" name="Text 3"/>
          <p:cNvSpPr/>
          <p:nvPr/>
        </p:nvSpPr>
        <p:spPr>
          <a:xfrm>
            <a:off x="658368" y="786384"/>
            <a:ext cx="10872216" cy="548640"/>
          </a:xfrm>
          <a:prstGeom prst="rect">
            <a:avLst/>
          </a:prstGeom>
          <a:noFill/>
          <a:ln/>
        </p:spPr>
        <p:txBody>
          <a:bodyPr wrap="square" lIns="0" tIns="0" rIns="0" bIns="0" rtlCol="0" anchor="ctr">
            <a:normAutofit/>
          </a:bodyPr>
          <a:lstStyle/>
          <a:p>
            <a:pPr indent="0" marL="0">
              <a:buNone/>
            </a:pPr>
            <a:r>
              <a:rPr lang="en-US" sz="2900" b="1" dirty="0">
                <a:solidFill>
                  <a:srgbClr val="161514"/>
                </a:solidFill>
                <a:latin typeface="Georgia" pitchFamily="34" charset="0"/>
                <a:ea typeface="Georgia" pitchFamily="34" charset="-122"/>
                <a:cs typeface="Georgia" pitchFamily="34" charset="-120"/>
              </a:rPr>
              <a:t>It usually works. But the answer depends on how you travel.</a:t>
            </a:r>
            <a:endParaRPr lang="en-US" sz="2900" dirty="0"/>
          </a:p>
        </p:txBody>
      </p:sp>
      <p:sp>
        <p:nvSpPr>
          <p:cNvPr id="6" name="Text 4"/>
          <p:cNvSpPr/>
          <p:nvPr/>
        </p:nvSpPr>
        <p:spPr>
          <a:xfrm>
            <a:off x="676656" y="1344168"/>
            <a:ext cx="10744200" cy="256032"/>
          </a:xfrm>
          <a:prstGeom prst="rect">
            <a:avLst/>
          </a:prstGeom>
          <a:noFill/>
          <a:ln/>
        </p:spPr>
        <p:txBody>
          <a:bodyPr wrap="square" lIns="0" tIns="0" rIns="0" bIns="0" rtlCol="0" anchor="ctr">
            <a:normAutofit/>
          </a:bodyPr>
          <a:lstStyle/>
          <a:p>
            <a:pPr indent="0" marL="0">
              <a:buNone/>
            </a:pPr>
            <a:r>
              <a:rPr lang="en-US" sz="1150" dirty="0">
                <a:solidFill>
                  <a:srgbClr val="6B6761"/>
                </a:solidFill>
                <a:latin typeface="Avenir Next" pitchFamily="34" charset="0"/>
                <a:ea typeface="Avenir Next" pitchFamily="34" charset="-122"/>
                <a:cs typeface="Avenir Next" pitchFamily="34" charset="-120"/>
              </a:rPr>
              <a:t>The schedule is broadly workable, yet the ten-minute rule is not equally forgiving.</a:t>
            </a:r>
            <a:endParaRPr lang="en-US" sz="1150" dirty="0"/>
          </a:p>
        </p:txBody>
      </p:sp>
      <p:sp>
        <p:nvSpPr>
          <p:cNvPr id="7" name="Text 5"/>
          <p:cNvSpPr/>
          <p:nvPr/>
        </p:nvSpPr>
        <p:spPr>
          <a:xfrm>
            <a:off x="749808" y="1993392"/>
            <a:ext cx="2971800" cy="658368"/>
          </a:xfrm>
          <a:prstGeom prst="rect">
            <a:avLst/>
          </a:prstGeom>
          <a:noFill/>
          <a:ln/>
        </p:spPr>
        <p:txBody>
          <a:bodyPr wrap="square" lIns="0" tIns="0" rIns="0" bIns="0" rtlCol="0" anchor="ctr"/>
          <a:lstStyle/>
          <a:p>
            <a:pPr algn="ctr" indent="0" marL="0">
              <a:buNone/>
            </a:pPr>
            <a:r>
              <a:rPr lang="en-US" sz="4100" b="1" dirty="0">
                <a:solidFill>
                  <a:srgbClr val="087E8B"/>
                </a:solidFill>
                <a:latin typeface="Georgia" pitchFamily="34" charset="0"/>
                <a:ea typeface="Georgia" pitchFamily="34" charset="-122"/>
                <a:cs typeface="Georgia" pitchFamily="34" charset="-120"/>
              </a:rPr>
              <a:t>82.5%</a:t>
            </a:r>
            <a:endParaRPr lang="en-US" sz="4100" dirty="0"/>
          </a:p>
        </p:txBody>
      </p:sp>
      <p:sp>
        <p:nvSpPr>
          <p:cNvPr id="8" name="Text 6"/>
          <p:cNvSpPr/>
          <p:nvPr/>
        </p:nvSpPr>
        <p:spPr>
          <a:xfrm>
            <a:off x="822960" y="2743200"/>
            <a:ext cx="2816352" cy="457200"/>
          </a:xfrm>
          <a:prstGeom prst="rect">
            <a:avLst/>
          </a:prstGeom>
          <a:noFill/>
          <a:ln/>
        </p:spPr>
        <p:txBody>
          <a:bodyPr wrap="square" lIns="0" tIns="0" rIns="0" bIns="0" rtlCol="0" anchor="ctr">
            <a:normAutofit/>
          </a:bodyPr>
          <a:lstStyle/>
          <a:p>
            <a:pPr algn="ctr" indent="0" marL="0">
              <a:buNone/>
            </a:pPr>
            <a:r>
              <a:rPr lang="en-US" sz="1080" dirty="0">
                <a:solidFill>
                  <a:srgbClr val="6B6761"/>
                </a:solidFill>
                <a:latin typeface="Avenir Next" pitchFamily="34" charset="0"/>
                <a:ea typeface="Avenir Next" pitchFamily="34" charset="-122"/>
                <a:cs typeface="Avenir Next" pitchFamily="34" charset="-120"/>
              </a:rPr>
              <a:t>fit with all ten minutes</a:t>
            </a:r>
            <a:endParaRPr lang="en-US" sz="1080" dirty="0"/>
          </a:p>
          <a:p>
            <a:pPr algn="ctr" indent="0" marL="0">
              <a:buNone/>
            </a:pPr>
            <a:r>
              <a:rPr lang="en-US" sz="1080" dirty="0">
                <a:solidFill>
                  <a:srgbClr val="6B6761"/>
                </a:solidFill>
                <a:latin typeface="Avenir Next" pitchFamily="34" charset="0"/>
                <a:ea typeface="Avenir Next" pitchFamily="34" charset="-122"/>
                <a:cs typeface="Avenir Next" pitchFamily="34" charset="-120"/>
              </a:rPr>
              <a:t>available for the route</a:t>
            </a:r>
            <a:endParaRPr lang="en-US" sz="1080" dirty="0"/>
          </a:p>
        </p:txBody>
      </p:sp>
      <p:sp>
        <p:nvSpPr>
          <p:cNvPr id="9" name="Shape 7"/>
          <p:cNvSpPr/>
          <p:nvPr/>
        </p:nvSpPr>
        <p:spPr>
          <a:xfrm>
            <a:off x="4069080" y="1993392"/>
            <a:ext cx="13716" cy="1261872"/>
          </a:xfrm>
          <a:prstGeom prst="rect">
            <a:avLst/>
          </a:prstGeom>
          <a:solidFill>
            <a:srgbClr val="D8D0C4"/>
          </a:solidFill>
          <a:ln w="12700">
            <a:solidFill>
              <a:srgbClr val="D8D0C4"/>
            </a:solidFill>
            <a:prstDash val="solid"/>
          </a:ln>
        </p:spPr>
      </p:sp>
      <p:sp>
        <p:nvSpPr>
          <p:cNvPr id="10" name="Text 8"/>
          <p:cNvSpPr/>
          <p:nvPr/>
        </p:nvSpPr>
        <p:spPr>
          <a:xfrm>
            <a:off x="4462272" y="1993392"/>
            <a:ext cx="3218688" cy="658368"/>
          </a:xfrm>
          <a:prstGeom prst="rect">
            <a:avLst/>
          </a:prstGeom>
          <a:noFill/>
          <a:ln/>
        </p:spPr>
        <p:txBody>
          <a:bodyPr wrap="square" lIns="0" tIns="0" rIns="0" bIns="0" rtlCol="0" anchor="ctr"/>
          <a:lstStyle/>
          <a:p>
            <a:pPr algn="ctr" indent="0" marL="0">
              <a:buNone/>
            </a:pPr>
            <a:r>
              <a:rPr lang="en-US" sz="4100" b="1" dirty="0">
                <a:solidFill>
                  <a:srgbClr val="8C1515"/>
                </a:solidFill>
                <a:latin typeface="Georgia" pitchFamily="34" charset="0"/>
                <a:ea typeface="Georgia" pitchFamily="34" charset="-122"/>
                <a:cs typeface="Georgia" pitchFamily="34" charset="-120"/>
              </a:rPr>
              <a:t>69.0%</a:t>
            </a:r>
            <a:endParaRPr lang="en-US" sz="4100" dirty="0"/>
          </a:p>
        </p:txBody>
      </p:sp>
      <p:sp>
        <p:nvSpPr>
          <p:cNvPr id="11" name="Text 9"/>
          <p:cNvSpPr/>
          <p:nvPr/>
        </p:nvSpPr>
        <p:spPr>
          <a:xfrm>
            <a:off x="4626864" y="2743200"/>
            <a:ext cx="2889504" cy="457200"/>
          </a:xfrm>
          <a:prstGeom prst="rect">
            <a:avLst/>
          </a:prstGeom>
          <a:noFill/>
          <a:ln/>
        </p:spPr>
        <p:txBody>
          <a:bodyPr wrap="square" lIns="0" tIns="0" rIns="0" bIns="0" rtlCol="0" anchor="ctr">
            <a:normAutofit/>
          </a:bodyPr>
          <a:lstStyle/>
          <a:p>
            <a:pPr algn="ctr" indent="0" marL="0">
              <a:buNone/>
            </a:pPr>
            <a:r>
              <a:rPr lang="en-US" sz="1080" dirty="0">
                <a:solidFill>
                  <a:srgbClr val="6B6761"/>
                </a:solidFill>
                <a:latin typeface="Avenir Next" pitchFamily="34" charset="0"/>
                <a:ea typeface="Avenir Next" pitchFamily="34" charset="-122"/>
                <a:cs typeface="Avenir Next" pitchFamily="34" charset="-120"/>
              </a:rPr>
              <a:t>fit after two minutes</a:t>
            </a:r>
            <a:endParaRPr lang="en-US" sz="1080" dirty="0"/>
          </a:p>
          <a:p>
            <a:pPr algn="ctr" indent="0" marL="0">
              <a:buNone/>
            </a:pPr>
            <a:r>
              <a:rPr lang="en-US" sz="1080" dirty="0">
                <a:solidFill>
                  <a:srgbClr val="6B6761"/>
                </a:solidFill>
                <a:latin typeface="Avenir Next" pitchFamily="34" charset="0"/>
                <a:ea typeface="Avenir Next" pitchFamily="34" charset="-122"/>
                <a:cs typeface="Avenir Next" pitchFamily="34" charset="-120"/>
              </a:rPr>
              <a:t>are reserved for buildings</a:t>
            </a:r>
            <a:endParaRPr lang="en-US" sz="1080" dirty="0"/>
          </a:p>
        </p:txBody>
      </p:sp>
      <p:sp>
        <p:nvSpPr>
          <p:cNvPr id="12" name="Shape 10"/>
          <p:cNvSpPr/>
          <p:nvPr/>
        </p:nvSpPr>
        <p:spPr>
          <a:xfrm>
            <a:off x="8101584" y="1993392"/>
            <a:ext cx="13716" cy="1261872"/>
          </a:xfrm>
          <a:prstGeom prst="rect">
            <a:avLst/>
          </a:prstGeom>
          <a:solidFill>
            <a:srgbClr val="D8D0C4"/>
          </a:solidFill>
          <a:ln w="12700">
            <a:solidFill>
              <a:srgbClr val="D8D0C4"/>
            </a:solidFill>
            <a:prstDash val="solid"/>
          </a:ln>
        </p:spPr>
      </p:sp>
      <p:sp>
        <p:nvSpPr>
          <p:cNvPr id="13" name="Text 11"/>
          <p:cNvSpPr/>
          <p:nvPr/>
        </p:nvSpPr>
        <p:spPr>
          <a:xfrm>
            <a:off x="8394192" y="1993392"/>
            <a:ext cx="2834640" cy="658368"/>
          </a:xfrm>
          <a:prstGeom prst="rect">
            <a:avLst/>
          </a:prstGeom>
          <a:noFill/>
          <a:ln/>
        </p:spPr>
        <p:txBody>
          <a:bodyPr wrap="square" lIns="0" tIns="0" rIns="0" bIns="0" rtlCol="0" anchor="ctr"/>
          <a:lstStyle/>
          <a:p>
            <a:pPr algn="ctr" indent="0" marL="0">
              <a:buNone/>
            </a:pPr>
            <a:r>
              <a:rPr lang="en-US" sz="4100" b="1" dirty="0">
                <a:solidFill>
                  <a:srgbClr val="087E8B"/>
                </a:solidFill>
                <a:latin typeface="Georgia" pitchFamily="34" charset="0"/>
                <a:ea typeface="Georgia" pitchFamily="34" charset="-122"/>
                <a:cs typeface="Georgia" pitchFamily="34" charset="-120"/>
              </a:rPr>
              <a:t>99.4%</a:t>
            </a:r>
            <a:endParaRPr lang="en-US" sz="4100" dirty="0"/>
          </a:p>
        </p:txBody>
      </p:sp>
      <p:sp>
        <p:nvSpPr>
          <p:cNvPr id="14" name="Text 12"/>
          <p:cNvSpPr/>
          <p:nvPr/>
        </p:nvSpPr>
        <p:spPr>
          <a:xfrm>
            <a:off x="8394192" y="2743200"/>
            <a:ext cx="2834640" cy="457200"/>
          </a:xfrm>
          <a:prstGeom prst="rect">
            <a:avLst/>
          </a:prstGeom>
          <a:noFill/>
          <a:ln/>
        </p:spPr>
        <p:txBody>
          <a:bodyPr wrap="square" lIns="0" tIns="0" rIns="0" bIns="0" rtlCol="0" anchor="ctr">
            <a:normAutofit/>
          </a:bodyPr>
          <a:lstStyle/>
          <a:p>
            <a:pPr algn="ctr" indent="0" marL="0">
              <a:buNone/>
            </a:pPr>
            <a:r>
              <a:rPr lang="en-US" sz="1080" dirty="0">
                <a:solidFill>
                  <a:srgbClr val="6B6761"/>
                </a:solidFill>
                <a:latin typeface="Avenir Next" pitchFamily="34" charset="0"/>
                <a:ea typeface="Avenir Next" pitchFamily="34" charset="-122"/>
                <a:cs typeface="Avenir Next" pitchFamily="34" charset="-120"/>
              </a:rPr>
              <a:t>fit by bike with two minutes</a:t>
            </a:r>
            <a:endParaRPr lang="en-US" sz="1080" dirty="0"/>
          </a:p>
          <a:p>
            <a:pPr algn="ctr" indent="0" marL="0">
              <a:buNone/>
            </a:pPr>
            <a:r>
              <a:rPr lang="en-US" sz="1080" dirty="0">
                <a:solidFill>
                  <a:srgbClr val="6B6761"/>
                </a:solidFill>
                <a:latin typeface="Avenir Next" pitchFamily="34" charset="0"/>
                <a:ea typeface="Avenir Next" pitchFamily="34" charset="-122"/>
                <a:cs typeface="Avenir Next" pitchFamily="34" charset="-120"/>
              </a:rPr>
              <a:t>reserved for handling</a:t>
            </a:r>
            <a:endParaRPr lang="en-US" sz="1080" dirty="0"/>
          </a:p>
        </p:txBody>
      </p:sp>
      <p:sp>
        <p:nvSpPr>
          <p:cNvPr id="15" name="Shape 13"/>
          <p:cNvSpPr/>
          <p:nvPr/>
        </p:nvSpPr>
        <p:spPr>
          <a:xfrm>
            <a:off x="694944" y="3547872"/>
            <a:ext cx="10771632" cy="0"/>
          </a:xfrm>
          <a:prstGeom prst="line">
            <a:avLst/>
          </a:prstGeom>
          <a:noFill/>
          <a:ln w="12700">
            <a:solidFill>
              <a:srgbClr val="D8D0C4"/>
            </a:solidFill>
            <a:prstDash val="solid"/>
          </a:ln>
        </p:spPr>
      </p:sp>
      <p:sp>
        <p:nvSpPr>
          <p:cNvPr id="16" name="Text 14"/>
          <p:cNvSpPr/>
          <p:nvPr/>
        </p:nvSpPr>
        <p:spPr>
          <a:xfrm>
            <a:off x="1024128" y="3950208"/>
            <a:ext cx="10104120" cy="365760"/>
          </a:xfrm>
          <a:prstGeom prst="rect">
            <a:avLst/>
          </a:prstGeom>
          <a:noFill/>
          <a:ln/>
        </p:spPr>
        <p:txBody>
          <a:bodyPr wrap="square" lIns="0" tIns="0" rIns="0" bIns="0" rtlCol="0" anchor="ctr">
            <a:normAutofit/>
          </a:bodyPr>
          <a:lstStyle/>
          <a:p>
            <a:pPr algn="ctr" indent="0" marL="0">
              <a:buNone/>
            </a:pPr>
            <a:r>
              <a:rPr lang="en-US" sz="2200" b="1" dirty="0">
                <a:solidFill>
                  <a:srgbClr val="161514"/>
                </a:solidFill>
                <a:latin typeface="Georgia" pitchFamily="34" charset="0"/>
                <a:ea typeface="Georgia" pitchFamily="34" charset="-122"/>
                <a:cs typeface="Georgia" pitchFamily="34" charset="-120"/>
              </a:rPr>
              <a:t>The system appears efficient, but mode-dependent:</a:t>
            </a:r>
            <a:endParaRPr lang="en-US" sz="2200" dirty="0"/>
          </a:p>
        </p:txBody>
      </p:sp>
      <p:sp>
        <p:nvSpPr>
          <p:cNvPr id="17" name="Text 15"/>
          <p:cNvSpPr/>
          <p:nvPr/>
        </p:nvSpPr>
        <p:spPr>
          <a:xfrm>
            <a:off x="1024128" y="4434840"/>
            <a:ext cx="10104120" cy="365760"/>
          </a:xfrm>
          <a:prstGeom prst="rect">
            <a:avLst/>
          </a:prstGeom>
          <a:noFill/>
          <a:ln/>
        </p:spPr>
        <p:txBody>
          <a:bodyPr wrap="square" lIns="0" tIns="0" rIns="0" bIns="0" rtlCol="0" anchor="ctr">
            <a:normAutofit/>
          </a:bodyPr>
          <a:lstStyle/>
          <a:p>
            <a:pPr algn="ctr" indent="0" marL="0">
              <a:buNone/>
            </a:pPr>
            <a:r>
              <a:rPr lang="en-US" sz="2200" b="1" dirty="0">
                <a:solidFill>
                  <a:srgbClr val="8C1515"/>
                </a:solidFill>
                <a:latin typeface="Georgia" pitchFamily="34" charset="0"/>
                <a:ea typeface="Georgia" pitchFamily="34" charset="-122"/>
                <a:cs typeface="Georgia" pitchFamily="34" charset="-120"/>
              </a:rPr>
              <a:t>the same timetable is far less forgiving for walkers.</a:t>
            </a:r>
            <a:endParaRPr lang="en-US" sz="2200" dirty="0"/>
          </a:p>
        </p:txBody>
      </p:sp>
      <p:sp>
        <p:nvSpPr>
          <p:cNvPr id="18" name="Text 16"/>
          <p:cNvSpPr/>
          <p:nvPr/>
        </p:nvSpPr>
        <p:spPr>
          <a:xfrm>
            <a:off x="1097280" y="4882896"/>
            <a:ext cx="9966960" cy="182880"/>
          </a:xfrm>
          <a:prstGeom prst="rect">
            <a:avLst/>
          </a:prstGeom>
          <a:noFill/>
          <a:ln/>
        </p:spPr>
        <p:txBody>
          <a:bodyPr wrap="square" lIns="0" tIns="0" rIns="0" bIns="0" rtlCol="0" anchor="ctr">
            <a:normAutofit/>
          </a:bodyPr>
          <a:lstStyle/>
          <a:p>
            <a:pPr algn="ctr" indent="0" marL="0">
              <a:buNone/>
            </a:pPr>
            <a:r>
              <a:rPr lang="en-US" sz="920" b="1" dirty="0">
                <a:solidFill>
                  <a:srgbClr val="C58D18"/>
                </a:solidFill>
                <a:latin typeface="Avenir Next" pitchFamily="34" charset="0"/>
                <a:ea typeface="Avenir Next" pitchFamily="34" charset="-122"/>
                <a:cs typeface="Avenir Next" pitchFamily="34" charset="-120"/>
              </a:rPr>
              <a:t>Five extra minutes raise modeled walking fit to 97.3% (93.1% after reserving two minutes for buildings).</a:t>
            </a:r>
            <a:endParaRPr lang="en-US" sz="920" dirty="0"/>
          </a:p>
        </p:txBody>
      </p:sp>
      <p:sp>
        <p:nvSpPr>
          <p:cNvPr id="19" name="Shape 17"/>
          <p:cNvSpPr/>
          <p:nvPr/>
        </p:nvSpPr>
        <p:spPr>
          <a:xfrm>
            <a:off x="694944" y="5148072"/>
            <a:ext cx="10771632" cy="841248"/>
          </a:xfrm>
          <a:prstGeom prst="rect">
            <a:avLst/>
          </a:prstGeom>
          <a:solidFill>
            <a:srgbClr val="161514"/>
          </a:solidFill>
          <a:ln w="12700">
            <a:solidFill>
              <a:srgbClr val="161514"/>
            </a:solidFill>
            <a:prstDash val="solid"/>
          </a:ln>
        </p:spPr>
      </p:sp>
      <p:sp>
        <p:nvSpPr>
          <p:cNvPr id="20" name="Text 18"/>
          <p:cNvSpPr/>
          <p:nvPr/>
        </p:nvSpPr>
        <p:spPr>
          <a:xfrm>
            <a:off x="960120" y="5330952"/>
            <a:ext cx="1371600" cy="155448"/>
          </a:xfrm>
          <a:prstGeom prst="rect">
            <a:avLst/>
          </a:prstGeom>
          <a:noFill/>
          <a:ln/>
        </p:spPr>
        <p:txBody>
          <a:bodyPr wrap="square" lIns="0" tIns="0" rIns="0" bIns="0" rtlCol="0" anchor="ctr"/>
          <a:lstStyle/>
          <a:p>
            <a:pPr indent="0" marL="0">
              <a:buNone/>
            </a:pPr>
            <a:r>
              <a:rPr lang="en-US" sz="780" b="1" spc="90" kern="0" dirty="0">
                <a:solidFill>
                  <a:srgbClr val="C58D18"/>
                </a:solidFill>
                <a:latin typeface="Avenir Next" pitchFamily="34" charset="0"/>
                <a:ea typeface="Avenir Next" pitchFamily="34" charset="-122"/>
                <a:cs typeface="Avenir Next" pitchFamily="34" charset="-120"/>
              </a:rPr>
              <a:t>FOR STUDENTS</a:t>
            </a:r>
            <a:endParaRPr lang="en-US" sz="780" dirty="0"/>
          </a:p>
        </p:txBody>
      </p:sp>
      <p:sp>
        <p:nvSpPr>
          <p:cNvPr id="21" name="Text 19"/>
          <p:cNvSpPr/>
          <p:nvPr/>
        </p:nvSpPr>
        <p:spPr>
          <a:xfrm>
            <a:off x="2359152" y="5257800"/>
            <a:ext cx="3429000" cy="310896"/>
          </a:xfrm>
          <a:prstGeom prst="rect">
            <a:avLst/>
          </a:prstGeom>
          <a:noFill/>
          <a:ln/>
        </p:spPr>
        <p:txBody>
          <a:bodyPr wrap="square" lIns="0" tIns="0" rIns="0" bIns="0" rtlCol="0" anchor="ctr">
            <a:normAutofit/>
          </a:bodyPr>
          <a:lstStyle/>
          <a:p>
            <a:pPr indent="0" marL="0">
              <a:buNone/>
            </a:pPr>
            <a:r>
              <a:rPr lang="en-US" sz="1330" b="1" dirty="0">
                <a:solidFill>
                  <a:srgbClr val="FFFFFF"/>
                </a:solidFill>
                <a:latin typeface="Georgia" pitchFamily="34" charset="0"/>
                <a:ea typeface="Georgia" pitchFamily="34" charset="-122"/>
                <a:cs typeface="Georgia" pitchFamily="34" charset="-120"/>
              </a:rPr>
              <a:t>Check buildings and travel mode, not just times.</a:t>
            </a:r>
            <a:endParaRPr lang="en-US" sz="1330" dirty="0"/>
          </a:p>
        </p:txBody>
      </p:sp>
      <p:sp>
        <p:nvSpPr>
          <p:cNvPr id="22" name="Text 20"/>
          <p:cNvSpPr/>
          <p:nvPr/>
        </p:nvSpPr>
        <p:spPr>
          <a:xfrm>
            <a:off x="6144768" y="5330952"/>
            <a:ext cx="1325880" cy="155448"/>
          </a:xfrm>
          <a:prstGeom prst="rect">
            <a:avLst/>
          </a:prstGeom>
          <a:noFill/>
          <a:ln/>
        </p:spPr>
        <p:txBody>
          <a:bodyPr wrap="square" lIns="0" tIns="0" rIns="0" bIns="0" rtlCol="0" anchor="ctr"/>
          <a:lstStyle/>
          <a:p>
            <a:pPr indent="0" marL="0">
              <a:buNone/>
            </a:pPr>
            <a:r>
              <a:rPr lang="en-US" sz="780" b="1" spc="90" kern="0" dirty="0">
                <a:solidFill>
                  <a:srgbClr val="C58D18"/>
                </a:solidFill>
                <a:latin typeface="Avenir Next" pitchFamily="34" charset="0"/>
                <a:ea typeface="Avenir Next" pitchFamily="34" charset="-122"/>
                <a:cs typeface="Avenir Next" pitchFamily="34" charset="-120"/>
              </a:rPr>
              <a:t>FOR THE STORY</a:t>
            </a:r>
            <a:endParaRPr lang="en-US" sz="780" dirty="0"/>
          </a:p>
        </p:txBody>
      </p:sp>
      <p:sp>
        <p:nvSpPr>
          <p:cNvPr id="23" name="Text 21"/>
          <p:cNvSpPr/>
          <p:nvPr/>
        </p:nvSpPr>
        <p:spPr>
          <a:xfrm>
            <a:off x="7543800" y="5257800"/>
            <a:ext cx="3611880" cy="310896"/>
          </a:xfrm>
          <a:prstGeom prst="rect">
            <a:avLst/>
          </a:prstGeom>
          <a:noFill/>
          <a:ln/>
        </p:spPr>
        <p:txBody>
          <a:bodyPr wrap="square" lIns="0" tIns="0" rIns="0" bIns="0" rtlCol="0" anchor="ctr">
            <a:normAutofit/>
          </a:bodyPr>
          <a:lstStyle/>
          <a:p>
            <a:pPr indent="0" marL="0">
              <a:buNone/>
            </a:pPr>
            <a:r>
              <a:rPr lang="en-US" sz="1040" b="1" dirty="0">
                <a:solidFill>
                  <a:srgbClr val="FFFFFF"/>
                </a:solidFill>
                <a:latin typeface="Avenir Next" pitchFamily="34" charset="0"/>
                <a:ea typeface="Avenir Next" pitchFamily="34" charset="-122"/>
                <a:cs typeface="Avenir Next" pitchFamily="34" charset="-120"/>
              </a:rPr>
              <a:t>Field-time hard routes and ask how room assignment treats distance.</a:t>
            </a:r>
            <a:endParaRPr lang="en-US" sz="1040" dirty="0"/>
          </a:p>
        </p:txBody>
      </p:sp>
      <p:sp>
        <p:nvSpPr>
          <p:cNvPr id="24" name="Text 22"/>
          <p:cNvSpPr/>
          <p:nvPr/>
        </p:nvSpPr>
        <p:spPr>
          <a:xfrm>
            <a:off x="713232" y="6199632"/>
            <a:ext cx="7589520" cy="164592"/>
          </a:xfrm>
          <a:prstGeom prst="rect">
            <a:avLst/>
          </a:prstGeom>
          <a:noFill/>
          <a:ln/>
        </p:spPr>
        <p:txBody>
          <a:bodyPr wrap="square" lIns="0" tIns="0" rIns="0" bIns="0" rtlCol="0" anchor="ctr"/>
          <a:lstStyle/>
          <a:p>
            <a:pPr indent="0" marL="0">
              <a:buNone/>
            </a:pPr>
            <a:r>
              <a:rPr lang="en-US" sz="840" i="1" dirty="0">
                <a:solidFill>
                  <a:srgbClr val="6B6761"/>
                </a:solidFill>
                <a:latin typeface="Avenir Next" pitchFamily="34" charset="0"/>
                <a:ea typeface="Avenir Next" pitchFamily="34" charset="-122"/>
                <a:cs typeface="Avenir Next" pitchFamily="34" charset="-120"/>
              </a:rPr>
              <a:t>The 17.5% result describes possible pairs, not students who are late.</a:t>
            </a:r>
            <a:endParaRPr lang="en-US" sz="840" dirty="0"/>
          </a:p>
        </p:txBody>
      </p:sp>
      <p:sp>
        <p:nvSpPr>
          <p:cNvPr id="25" name="Text 23">
            <a:hlinkClick r:id="rId1" tooltip=""/>
          </p:cNvPr>
          <p:cNvSpPr/>
          <p:nvPr/>
        </p:nvSpPr>
        <p:spPr>
          <a:xfrm>
            <a:off x="9784080" y="6190488"/>
            <a:ext cx="1664208" cy="164592"/>
          </a:xfrm>
          <a:prstGeom prst="rect">
            <a:avLst/>
          </a:prstGeom>
          <a:noFill/>
          <a:ln/>
        </p:spPr>
        <p:txBody>
          <a:bodyPr wrap="square" lIns="0" tIns="0" rIns="0" bIns="0" rtlCol="0" anchor="ctr"/>
          <a:lstStyle/>
          <a:p>
            <a:pPr algn="r" indent="0" marL="0">
              <a:buNone/>
            </a:pPr>
            <a:r>
              <a:rPr lang="en-US" sz="840" b="1" u="sng" dirty="0">
                <a:solidFill>
                  <a:srgbClr val="8C1515"/>
                </a:solidFill>
                <a:latin typeface="Avenir Next" pitchFamily="34" charset="0"/>
                <a:ea typeface="Avenir Next" pitchFamily="34" charset="-122"/>
                <a:cs typeface="Avenir Next"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live prototype</a:t>
            </a:r>
            <a:endParaRPr lang="en-US" sz="840" dirty="0"/>
          </a:p>
        </p:txBody>
      </p:sp>
      <p:sp>
        <p:nvSpPr>
          <p:cNvPr id="26" name="Text 24">
            <a:hlinkClick r:id="rId2" tooltip=""/>
          </p:cNvPr>
          <p:cNvSpPr/>
          <p:nvPr/>
        </p:nvSpPr>
        <p:spPr>
          <a:xfrm>
            <a:off x="658368" y="6519672"/>
            <a:ext cx="10287000" cy="137160"/>
          </a:xfrm>
          <a:prstGeom prst="rect">
            <a:avLst/>
          </a:prstGeom>
          <a:noFill/>
          <a:ln/>
        </p:spPr>
        <p:txBody>
          <a:bodyPr wrap="square" lIns="0" tIns="0" rIns="0" bIns="0" rtlCol="0" anchor="ctr">
            <a:normAutofit/>
          </a:bodyPr>
          <a:lstStyle/>
          <a:p>
            <a:pPr indent="0" marL="0">
              <a:buNone/>
            </a:pPr>
            <a:r>
              <a:rPr lang="en-US" sz="730" u="sng" dirty="0">
                <a:solidFill>
                  <a:srgbClr val="6B6761"/>
                </a:solidFill>
                <a:latin typeface="Avenir Next" pitchFamily="34" charset="0"/>
                <a:ea typeface="Avenir Next" pitchFamily="34" charset="-122"/>
                <a:cs typeface="Avenir Next"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Conclusion limited to the modeled schedule pairs and stated sensitivity assumptions</a:t>
            </a:r>
            <a:endParaRPr lang="en-US" sz="7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Stanford Daily Data Workshop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Ten-Minute Test</dc:title>
  <dc:subject>The Ten-Minute Test: workshop presentation</dc:subject>
  <dc:creator>Imran Zakirov and Alisher Sabitov</dc:creator>
  <cp:lastModifiedBy>Imran Zakirov and Alisher Sabitov</cp:lastModifiedBy>
  <cp:revision>1</cp:revision>
  <dcterms:created xsi:type="dcterms:W3CDTF">2026-08-18T17:39:30Z</dcterms:created>
  <dcterms:modified xsi:type="dcterms:W3CDTF">2026-08-18T17:39:30Z</dcterms:modified>
</cp:coreProperties>
</file>